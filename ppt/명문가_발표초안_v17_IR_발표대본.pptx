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7" r:id="rId22"/>
    <p:sldId id="276" r:id="rId23"/>
    <p:sldId id="277" r:id="rId24"/>
    <p:sldId id="278" r:id="rId25"/>
    <p:sldId id="288" r:id="rId26"/>
    <p:sldId id="279" r:id="rId27"/>
    <p:sldId id="280" r:id="rId28"/>
    <p:sldId id="281" r:id="rId29"/>
    <p:sldId id="282" r:id="rId30"/>
    <p:sldId id="290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950" autoAdjust="0"/>
  </p:normalViewPr>
  <p:slideViewPr>
    <p:cSldViewPr snapToGrid="0">
      <p:cViewPr varScale="1">
        <p:scale>
          <a:sx n="83" d="100"/>
          <a:sy n="83" d="100"/>
        </p:scale>
        <p:origin x="14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연환산 매출</c:v>
          </c:tx>
          <c:invertIfNegative val="1"/>
          <c:dPt>
            <c:idx val="0"/>
            <c:invertIfNegative val="0"/>
            <c:bubble3D val="0"/>
            <c:spPr>
              <a:solidFill>
                <a:srgbClr val="729690"/>
              </a:solidFill>
            </c:spPr>
            <c:extLst>
              <c:ext xmlns:c16="http://schemas.microsoft.com/office/drawing/2014/chart" uri="{C3380CC4-5D6E-409C-BE32-E72D297353CC}">
                <c16:uniqueId val="{00000001-0585-4CBA-A448-B25228D8446F}"/>
              </c:ext>
            </c:extLst>
          </c:dPt>
          <c:dPt>
            <c:idx val="1"/>
            <c:invertIfNegative val="0"/>
            <c:bubble3D val="0"/>
            <c:spPr>
              <a:solidFill>
                <a:srgbClr val="183E35"/>
              </a:solidFill>
            </c:spPr>
            <c:extLst>
              <c:ext xmlns:c16="http://schemas.microsoft.com/office/drawing/2014/chart" uri="{C3380CC4-5D6E-409C-BE32-E72D297353CC}">
                <c16:uniqueId val="{00000003-0585-4CBA-A448-B25228D8446F}"/>
              </c:ext>
            </c:extLst>
          </c:dPt>
          <c:dPt>
            <c:idx val="2"/>
            <c:invertIfNegative val="0"/>
            <c:bubble3D val="0"/>
            <c:spPr>
              <a:solidFill>
                <a:srgbClr val="567D89"/>
              </a:solidFill>
            </c:spPr>
            <c:extLst>
              <c:ext xmlns:c16="http://schemas.microsoft.com/office/drawing/2014/chart" uri="{C3380CC4-5D6E-409C-BE32-E72D297353CC}">
                <c16:uniqueId val="{00000005-0585-4CBA-A448-B25228D8446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183E35"/>
                    </a:solidFill>
                    <a:latin typeface="Pretendard"/>
                    <a:ea typeface="Pretendard"/>
                    <a:cs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0.5%  948개</c:v>
                </c:pt>
                <c:pt idx="1">
                  <c:v>1%  1,897개</c:v>
                </c:pt>
                <c:pt idx="2">
                  <c:v>2%  3,793개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4.74</c:v>
                </c:pt>
                <c:pt idx="1">
                  <c:v>9.49</c:v>
                </c:pt>
                <c:pt idx="2">
                  <c:v>18.97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585-4CBA-A448-B25228D844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65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5"/>
          <c:min val="0"/>
        </c:scaling>
        <c:delete val="0"/>
        <c:axPos val="b"/>
        <c:majorGridlines>
          <c:spPr>
            <a:ln w="9525">
              <a:solidFill>
                <a:srgbClr val="D2DC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>
                    <a:latin typeface="Pretendard"/>
                    <a:ea typeface="Pretendard"/>
                    <a:cs typeface="Pretendard"/>
                  </a:rPr>
                  <a:t>억원 </a:t>
                </a:r>
                <a:r>
                  <a:rPr lang="en-US" altLang="ko-KR">
                    <a:latin typeface="Pretendard"/>
                    <a:ea typeface="Pretendard"/>
                    <a:cs typeface="Pretendard"/>
                  </a:rPr>
                  <a:t>/ </a:t>
                </a:r>
                <a:r>
                  <a:rPr lang="ko-KR" altLang="en-US">
                    <a:latin typeface="Pretendard"/>
                    <a:ea typeface="Pretendard"/>
                    <a:cs typeface="Pretendard"/>
                  </a:rPr>
                  <a:t>년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endParaRPr lang="ko-KR"/>
          </a:p>
        </c:txPr>
        <c:crossAx val="48650112"/>
        <c:crosses val="autoZero"/>
        <c:crossBetween val="between"/>
        <c:majorUnit val="5"/>
      </c:valAx>
      <c:spPr>
        <a:solidFill>
          <a:srgbClr val="F5F2E9"/>
        </a:solidFill>
      </c:spPr>
    </c:plotArea>
    <c:plotVisOnly val="1"/>
    <c:dispBlanksAs val="zero"/>
    <c:showDLblsOverMax val="1"/>
  </c:chart>
  <c:spPr>
    <a:solidFill>
      <a:srgbClr val="F5F2E9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ko-KR" altLang="en-US" dirty="0"/>
              <a:t>음성 재생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저희 아버지의 실제 육성입니다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여러분</a:t>
            </a:r>
            <a:r>
              <a:rPr lang="en-US" altLang="ko-KR" dirty="0"/>
              <a:t>! </a:t>
            </a:r>
            <a:r>
              <a:rPr lang="ko-KR" altLang="en-US" dirty="0"/>
              <a:t>여러분의 </a:t>
            </a:r>
            <a:r>
              <a:rPr lang="ko-KR" altLang="en-US" dirty="0" err="1"/>
              <a:t>종중은</a:t>
            </a:r>
            <a:r>
              <a:rPr lang="ko-KR" altLang="en-US" dirty="0"/>
              <a:t> 안녕하십니까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전주이씨</a:t>
            </a:r>
            <a:r>
              <a:rPr lang="ko-KR" altLang="en-US" dirty="0"/>
              <a:t> </a:t>
            </a:r>
            <a:r>
              <a:rPr lang="ko-KR" altLang="en-US" dirty="0" err="1"/>
              <a:t>임영대군파종중은</a:t>
            </a:r>
            <a:r>
              <a:rPr lang="ko-KR" altLang="en-US" dirty="0"/>
              <a:t> 안녕하지 않습니다</a:t>
            </a:r>
            <a:r>
              <a:rPr lang="en-US" altLang="ko-KR" dirty="0"/>
              <a:t>..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종중이란, 쉽게 말해서 여러분의 가문을 의미합니다.</a:t>
            </a:r>
          </a:p>
          <a:p>
            <a:r>
              <a:t>같은 선조를 둔 사람들이 모여 공동재산과 집안일을 관리하는 공동체죠.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그러나 앞서 저희 종중의 분쟁같이, 종중은 그 특성상 온갖 다툼과 소송의 온상입니다.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지위부터, 대표권, 특히 저희 집안처럼 땅 관련해서..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화면의 1,416건은 종중 관련 공개 판례 검색 건수입니다.</a:t>
            </a:r>
            <a:endParaRPr/>
          </a:p>
          <a:p>
            <a:r>
              <a:t>특히 스테이크홀더가 무수히 많고 연락이 쉽지 않은 종중의 특성상, 종중의 문제는 시간이 오래 걸리고</a:t>
            </a:r>
          </a:p>
          <a:p>
            <a:r>
              <a:t>끝까지 가도 승리를 장담할 수가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종중은</a:t>
            </a:r>
            <a:endParaRPr/>
          </a:p>
          <a:p>
            <a:r>
              <a:t>과거의 유산이자</a:t>
            </a:r>
            <a:endParaRPr/>
          </a:p>
          <a:p>
            <a:r>
              <a:t>오늘날 여러분이 눈치채지 못하는 일상이고</a:t>
            </a:r>
            <a:endParaRPr/>
          </a:p>
          <a:p>
            <a:r>
              <a:t>미래의 필수불가결한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사실 한 4년 전에 비슷한 도메인에서 창업했다가 시원하게 망했습니다.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저는 기술로 세상의 문제를 풀 수 있다고 믿습니다.</a:t>
            </a:r>
          </a:p>
          <a:p>
            <a:r>
              <a:t/>
            </a:r>
            <a:endParaRPr/>
          </a:p>
          <a:p>
            <a:r>
              <a:t>대 AI 시대, 이제는 할 수 있을 거라 믿고 해야 할 때라고 생각합니다.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소개합니다.</a:t>
            </a:r>
          </a:p>
          <a:p>
            <a:r>
              <a:t>우리 가문은 명문가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종중을 만들고, 운영하고, 문제가 생겼을 때 상담받는 것까지 한곳에서 다루려고 했습니다.</a:t>
            </a:r>
            <a:endParaRPr/>
          </a:p>
          <a:p>
            <a:r>
              <a:t>먼저 총무가 들어오면 오늘 확인할 일이 보입니다.</a:t>
            </a:r>
            <a:endParaRPr/>
          </a:p>
          <a:p>
            <a:r>
              <a:t>다가오는 총회와 아직 답을 안 한 종원을 확인하고, 필요한 명부나 회의 자료로 바로 들어가면 됩니다.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종중 일을 처음 맡으면 서류부터 막히죠.</a:t>
            </a:r>
            <a:endParaRPr/>
          </a:p>
          <a:p>
            <a:r>
              <a:t>가지고 있는 자료를 올리면 준비된 서류와 빠진 항목을 나눠 보여줍니다.</a:t>
            </a:r>
            <a:endParaRPr/>
          </a:p>
          <a:p>
            <a:r>
              <a:t>여기서 우리 업무와 지역, 상담 조건에 맞는 법무사 후보까지 찾도록 했습니다.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회의 녹음을 올리면 위스퍼가 전사하고, AI가 회의록 초안을 만듭니다.</a:t>
            </a:r>
            <a:endParaRPr/>
          </a:p>
          <a:p>
            <a:r>
              <a:t>이름이나 금액처럼 틀리면 곤란한 부분은 표시해 두고, 해당 녹음 구간으로 돌아가 확인할 수 있습니다.</a:t>
            </a:r>
            <a:endParaRPr/>
          </a:p>
          <a:p>
            <a:r>
              <a:t>총무는 처음부터 받아 적는 대신, 초안을 보고 빠진 내용과 잘못 들은 부분을 확인하면 됩니다.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‘그때 이 땅을 어떻게 하기로 했더라?’ 이런 걸 찾으려고 예전 회의록을 뒤지게 되죠.</a:t>
            </a:r>
            <a:endParaRPr/>
          </a:p>
          <a:p>
            <a:r>
              <a:t>질문하면 관련 기록을 찾고, 답의 근거가 된 원문도 같이 볼 수 있습니다.</a:t>
            </a:r>
            <a:endParaRPr/>
          </a:p>
          <a:p>
            <a:r>
              <a:t>이번 소집 안내나 회의록도 그 자료로 초안을 만들고, 고친 내용은 버전으로 남깁니다.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종원이 많으면 연락부터 일입니다. 누구에게 알렸고, 누가 답했는지부터 챙겨야 하죠.</a:t>
            </a:r>
            <a:endParaRPr/>
          </a:p>
          <a:p>
            <a:r>
              <a:t>휴대폰에서 안건을 보고 의견을 남기면, 어떤 문서를 보고 답했는지까지 기록합니다.</a:t>
            </a:r>
            <a:endParaRPr/>
          </a:p>
          <a:p>
            <a:r>
              <a:t>아직 답이 없는 분은 따로 확인하고, 전화로 안내한 내용도 남길 수 있습니다.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앞에서 들으신 저희 집안 이야기가 바로 이 부분입니다.</a:t>
            </a:r>
            <a:endParaRPr/>
          </a:p>
          <a:p>
            <a:r>
              <a:t>우리 종중의 땅을 지도에서 보고, 연결된 등기 자료와 과거 기록을 같이 확인합니다.</a:t>
            </a:r>
            <a:endParaRPr/>
          </a:p>
          <a:p>
            <a:r>
              <a:t>새로 들어온 자료에서 소유자 표시가 달라지면 이전 자료와 비교해 무엇이 바뀌었는지 알려줍니다.</a:t>
            </a:r>
            <a:endParaRPr/>
          </a:p>
          <a:p>
            <a:r>
              <a:t>종원이 뒤늦게 알게 되는 일을 줄이려는 겁니다.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땅뿐 아니라 종중의 돈도 같이 봐야죠.</a:t>
            </a:r>
            <a:endParaRPr/>
          </a:p>
          <a:p>
            <a:r>
              <a:t>회비나 임대료가 얼마나 들어왔고, 어디에 썼는지 증빙과 함께 확인합니다.</a:t>
            </a:r>
            <a:endParaRPr/>
          </a:p>
          <a:p>
            <a:r>
              <a:t>잔액만 보는 게 아니라, 왜 이 돈이 나갔는지와 기록을 바꾼 이력까지 따라갈 수 있게 했습니다.</a:t>
            </a:r>
            <a:endParaRPr/>
          </a:p>
          <a:p>
            <a:r>
              <a:t>우리 가문의 재산을 종원들도 같이 확인하자는 겁니다.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문제가 생기면 우리 규약이랑 법부터 찾아봐야 하죠.</a:t>
            </a:r>
            <a:endParaRPr/>
          </a:p>
          <a:p>
            <a:r>
              <a:t>종중 자료를 법령과 판례에 대조해 보고, 빠진 자료나 서로 말이 다른 부분을 짚어줍니다.</a:t>
            </a:r>
            <a:endParaRPr/>
          </a:p>
          <a:p>
            <a:r>
              <a:t>전문가 판단이 필요한 쟁점은 상담자료로 모으고, 우리 사건의 분야와 조건에 맞는 변호사 후보까지 찾도록 했습니다.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부동산등기용으로 등록된 종중만 23만 개가 넘습니다.</a:t>
            </a:r>
            <a:endParaRPr/>
          </a:p>
          <a:p>
            <a:r>
              <a:t>임야뿐 아니라 농지, 대지, 건물까지 공동재산의 형태도 다양하고요.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B99B-EDED-C2ED-903D-AFA974A5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4592D-9EFC-B8DD-0ACC-AB15CE315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7C6E6-F848-8809-C85F-F649BF117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혹시 강남에서 유명한 뉴발란스 건물을 보신 적이 있으신가요?</a:t>
            </a:r>
          </a:p>
          <a:p>
            <a:r>
              <a:t>이 건물도 종중 법정 공방이 있었던 건물로 유명합니다.</a:t>
            </a:r>
          </a:p>
          <a:p>
            <a:r>
              <a:t/>
            </a:r>
            <a:endParaRPr/>
          </a:p>
          <a:p>
            <a:r>
              <a:t>이렇게 종중은 거대 종중부터, 저희 집안 같은 군소 종중까지 다양하죠.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68BA5-51EB-125D-10B4-59990BAF8AC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9121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여기서는 전담 관리를 받는 종중이 20%라고 가정하고, 나머지 80%를 SAM으로 잡았습니다.</a:t>
            </a:r>
            <a:endParaRPr/>
          </a:p>
          <a:p>
            <a:r>
              <a:t>실제 비중을 조사한 수치는 아니고, 시장 규모를 추정하기 위한 가정입니다.</a:t>
            </a:r>
            <a:endParaRPr/>
          </a:p>
          <a:p>
            <a:r>
              <a:t>종중 하나당 연 50만 원을 받는다고 놓고 계산했습니다.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확보율별 매출은 다음과 같습니다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다음은 CODEX 활용입니다.</a:t>
            </a:r>
          </a:p>
          <a:p>
            <a:r>
              <a:t>뭐.. 보시다시피 그냥 다 맡겼다고 볼 수 있죠.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1787-4CAF-E3F4-28D5-29138094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CD705-5E5F-9A62-8B5E-E35E52578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E39A7-CEA8-3A28-8C86-F84EB202B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도라에몽 해줘~ 에 가깝다고 볼 수 있습니다.</a:t>
            </a:r>
          </a:p>
          <a:p>
            <a:r>
              <a:t>이번 API 크레딧 적용하는 것도 그냥 맡겼습니다. 잘해주더라고요.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8DFA-C042-10D5-971A-DF7D9FF90E1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3746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간략한 하이레벨 아키텍처는 다음과 같습니다.</a:t>
            </a:r>
          </a:p>
          <a:p>
            <a:r>
              <a:t>Sites를 이용했으며, 빨리 개발해야 하지만 모킹을 자주 사용하는 해커톤 특성상 모듈러 모놀리스 구조를 선택했습니다.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사용한 AI는 다음과 같습니다.</a:t>
            </a:r>
          </a:p>
          <a:p>
            <a:r>
              <a:t>회의록 전사에는 위스퍼,</a:t>
            </a:r>
          </a:p>
          <a:p>
            <a:r>
              <a:t>Luna와 Sol을 LLM으로 사용했으며,</a:t>
            </a:r>
            <a:endParaRPr/>
          </a:p>
          <a:p>
            <a:r>
              <a:t>마침 private preview가 풀린 루나 디시전을 모델 라우터, 매칭, 작업 판단에 사용했습니다.</a:t>
            </a:r>
            <a:endParaRPr/>
          </a:p>
          <a:p>
            <a:r>
              <a:t>쌓인 회의록이나 규약에서 근거를 찾는 데는 파일 서치를 붙였습니다.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안전한 소프트웨어를 만들기 위한 하네스는 다음과 같습니다.</a:t>
            </a:r>
          </a:p>
          <a:p>
            <a:r>
              <a:t>모듈러 모놀리스 DDD와 프로퍼티 베이스 테스트를 사용해 달라고 했으며,</a:t>
            </a:r>
            <a:endParaRPr/>
          </a:p>
          <a:p>
            <a:r>
              <a:t/>
            </a:r>
            <a:endParaRPr/>
          </a:p>
          <a:p>
            <a:r>
              <a:t>원활한 QA와 평가를 위하여 스테이크홀더 페르소나를 만들어 사용했습니다.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ko-KR" altLang="en-US" dirty="0"/>
              <a:t>페르소나도 인정하는 부분이고요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참고로 5점을 받지 못한 이유는 이렇게 다시 뽑아서 보완했습니다.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하나 더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ko-KR" altLang="en-US" dirty="0"/>
              <a:t>시대를 맞아 </a:t>
            </a:r>
            <a:r>
              <a:rPr lang="en-US" altLang="ko-KR" dirty="0"/>
              <a:t>skills </a:t>
            </a:r>
            <a:r>
              <a:rPr lang="ko-KR" altLang="en-US" dirty="0"/>
              <a:t>와 </a:t>
            </a:r>
            <a:r>
              <a:rPr lang="en-US" altLang="ko-KR" dirty="0" err="1"/>
              <a:t>mcp</a:t>
            </a:r>
            <a:r>
              <a:rPr lang="en-US" altLang="ko-KR" dirty="0"/>
              <a:t> </a:t>
            </a:r>
            <a:r>
              <a:rPr lang="ko-KR" altLang="en-US" dirty="0"/>
              <a:t>를 </a:t>
            </a:r>
            <a:r>
              <a:rPr lang="en-US" altLang="ko-KR" dirty="0" err="1"/>
              <a:t>prd</a:t>
            </a:r>
            <a:r>
              <a:rPr lang="en-US" altLang="ko-KR" dirty="0"/>
              <a:t> </a:t>
            </a:r>
            <a:r>
              <a:rPr lang="ko-KR" altLang="en-US" dirty="0"/>
              <a:t>부터 기획했습니다</a:t>
            </a:r>
            <a:r>
              <a:rPr lang="en-US" altLang="ko-KR" dirty="0"/>
              <a:t>. </a:t>
            </a:r>
            <a:r>
              <a:rPr lang="ko-KR" altLang="en-US" dirty="0"/>
              <a:t>특히 앞선 </a:t>
            </a:r>
            <a:r>
              <a:rPr lang="en-US" altLang="ko-KR" dirty="0"/>
              <a:t>recap </a:t>
            </a:r>
            <a:r>
              <a:rPr lang="ko-KR" altLang="en-US" dirty="0"/>
              <a:t>에서 발표한 </a:t>
            </a:r>
            <a:r>
              <a:rPr lang="en-US" altLang="ko-KR" dirty="0" err="1"/>
              <a:t>mcp</a:t>
            </a:r>
            <a:r>
              <a:rPr lang="en-US" altLang="ko-KR" dirty="0"/>
              <a:t> events </a:t>
            </a:r>
            <a:r>
              <a:rPr lang="ko-KR" altLang="en-US" dirty="0"/>
              <a:t>를 적용해달라고 부탁했습니다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쉬운 말로, GPT가 명문가를 쓰고 알림을 받으면 처리할 수 있다는 소리죠.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이상으로 발표를 마치도록 하겠습니다. 이프제로 명문가였습니다.</a:t>
            </a:r>
          </a:p>
          <a:p>
            <a:r>
              <a:t>질문 있으신가요?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5D117E-EDDB-40C3-A31A-45E02811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8A6DDC7-7E79-448A-A289-D4BAB218D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13AC26-5EF5-4958-9300-99509AFD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D85C74-8473-4E04-A4E2-ABA952BE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5D0E99F-08D2-4FC4-B7E7-D47021084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166B1F2-630D-4F2B-9F3B-1F5E3503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766F184-BC5C-4406-9650-85E3987D0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AC38326-D215-459F-BCFD-12FFD5FCBD6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068E24E-7A1C-4878-8E4E-D52F20824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6025BBE-DDD3-4985-B7A5-C0569526E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jpeg"/><Relationship Id="rId5" Type="http://schemas.openxmlformats.org/officeDocument/2006/relationships/image" Target="../media/image19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3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7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7.png"/><Relationship Id="rId9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56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>
            <a:extLst>
              <a:ext uri="{FF2B5EF4-FFF2-40B4-BE49-F238E27FC236}">
                <a16:creationId xmlns:a16="http://schemas.microsoft.com/office/drawing/2014/main" id="{344FF0C7-6B9E-4F0D-8AA6-DEE7264C02DF}"/>
              </a:ext>
            </a:extLst>
          </p:cNvPr>
          <p:cNvSpPr>
            <a:spLocks noGrp="1"/>
          </p:cNvSpPr>
          <p:nvPr/>
        </p:nvSpPr>
        <p:spPr>
          <a:xfrm>
            <a:off x="3486150" y="1485900"/>
            <a:ext cx="2171700" cy="21717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2574B1C-562D-438C-B1AF-D5C392923D6C}"/>
              </a:ext>
            </a:extLst>
          </p:cNvPr>
          <p:cNvSpPr>
            <a:spLocks noGrp="1"/>
          </p:cNvSpPr>
          <p:nvPr/>
        </p:nvSpPr>
        <p:spPr>
          <a:xfrm>
            <a:off x="3600450" y="1600200"/>
            <a:ext cx="1943100" cy="1943100"/>
          </a:xfrm>
          <a:prstGeom prst="ellipse">
            <a:avLst/>
          </a:prstGeom>
          <a:solidFill>
            <a:srgbClr val="183E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C95782-B5D1-4D22-9E50-D8A837876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38600" y="2038350"/>
            <a:ext cx="1066800" cy="1066800"/>
          </a:xfrm>
          <a:prstGeom prst="rect">
            <a:avLst/>
          </a:prstGeom>
        </p:spPr>
      </p:pic>
      <p:pic>
        <p:nvPicPr>
          <p:cNvPr id="4" name="Play embedded family call">
            <a:hlinkClick action="ppaction://media"/>
            <a:extLst>
              <a:ext uri="{FF2B5EF4-FFF2-40B4-BE49-F238E27FC236}">
                <a16:creationId xmlns:a16="http://schemas.microsoft.com/office/drawing/2014/main" id="{1A06C398-A5ED-489D-8033-FAA4F822E0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3600450" y="1600200"/>
            <a:ext cx="19431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66901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여러분의 종중은">
            <a:extLst>
              <a:ext uri="{FF2B5EF4-FFF2-40B4-BE49-F238E27FC236}">
                <a16:creationId xmlns:a16="http://schemas.microsoft.com/office/drawing/2014/main" id="{F91C17BF-D98C-4B33-8C47-8B3035EE3ACD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788670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87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487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4875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여러분의 종중은</a:t>
            </a:r>
          </a:p>
        </p:txBody>
      </p:sp>
      <p:sp>
        <p:nvSpPr>
          <p:cNvPr id="2" name="안녕">
            <a:extLst>
              <a:ext uri="{FF2B5EF4-FFF2-40B4-BE49-F238E27FC236}">
                <a16:creationId xmlns:a16="http://schemas.microsoft.com/office/drawing/2014/main" id="{940BBAA1-CF5B-4DA6-8CB8-B7E9A29912C3}"/>
              </a:ext>
            </a:extLst>
          </p:cNvPr>
          <p:cNvSpPr>
            <a:spLocks noGrp="1"/>
          </p:cNvSpPr>
          <p:nvPr/>
        </p:nvSpPr>
        <p:spPr>
          <a:xfrm>
            <a:off x="619125" y="2352675"/>
            <a:ext cx="1704975" cy="1104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300" b="1">
                <a:solidFill>
                  <a:srgbClr val="D0525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6300" b="1">
                <a:solidFill>
                  <a:srgbClr val="D05258"/>
                </a:solidFill>
                <a:latin typeface="Pretendard"/>
                <a:ea typeface="Pretendard"/>
                <a:cs typeface="Pretendard"/>
              </a:defRPr>
            </a:pPr>
            <a:r>
              <a:rPr sz="6300" b="1">
                <a:solidFill>
                  <a:srgbClr val="D05258"/>
                </a:solidFill>
                <a:latin typeface="Pretendard"/>
                <a:ea typeface="Pretendard"/>
                <a:cs typeface="Pretendard"/>
              </a:rPr>
              <a:t>안녕</a:t>
            </a:r>
          </a:p>
        </p:txBody>
      </p:sp>
      <p:sp>
        <p:nvSpPr>
          <p:cNvPr id="3" name="하십니까?">
            <a:extLst>
              <a:ext uri="{FF2B5EF4-FFF2-40B4-BE49-F238E27FC236}">
                <a16:creationId xmlns:a16="http://schemas.microsoft.com/office/drawing/2014/main" id="{24BC382A-193F-4768-8D78-16682D3D00F8}"/>
              </a:ext>
            </a:extLst>
          </p:cNvPr>
          <p:cNvSpPr>
            <a:spLocks noGrp="1"/>
          </p:cNvSpPr>
          <p:nvPr/>
        </p:nvSpPr>
        <p:spPr>
          <a:xfrm>
            <a:off x="2324100" y="2352675"/>
            <a:ext cx="5953125" cy="1104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30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630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6300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하십니까?</a:t>
            </a:r>
          </a:p>
        </p:txBody>
      </p:sp>
    </p:spTree>
    <p:extLst>
      <p:ext uri="{BB962C8B-B14F-4D97-AF65-F5344CB8AC3E}">
        <p14:creationId xmlns:p14="http://schemas.microsoft.com/office/powerpoint/2010/main" val="2127647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전주이씨">
            <a:extLst>
              <a:ext uri="{FF2B5EF4-FFF2-40B4-BE49-F238E27FC236}">
                <a16:creationId xmlns:a16="http://schemas.microsoft.com/office/drawing/2014/main" id="{B6D97593-DB1F-4287-AF3C-E906650AD844}"/>
              </a:ext>
            </a:extLst>
          </p:cNvPr>
          <p:cNvSpPr>
            <a:spLocks noGrp="1"/>
          </p:cNvSpPr>
          <p:nvPr/>
        </p:nvSpPr>
        <p:spPr>
          <a:xfrm>
            <a:off x="485775" y="228600"/>
            <a:ext cx="8172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전주이씨</a:t>
            </a:r>
          </a:p>
        </p:txBody>
      </p:sp>
      <p:sp>
        <p:nvSpPr>
          <p:cNvPr id="2" name="임영대군파종중">
            <a:extLst>
              <a:ext uri="{FF2B5EF4-FFF2-40B4-BE49-F238E27FC236}">
                <a16:creationId xmlns:a16="http://schemas.microsoft.com/office/drawing/2014/main" id="{551C329F-8F1C-4D47-9F55-BA3927885493}"/>
              </a:ext>
            </a:extLst>
          </p:cNvPr>
          <p:cNvSpPr>
            <a:spLocks noGrp="1"/>
          </p:cNvSpPr>
          <p:nvPr/>
        </p:nvSpPr>
        <p:spPr>
          <a:xfrm>
            <a:off x="485775" y="571500"/>
            <a:ext cx="8172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6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6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임영대군파종중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A21BFB-1723-435C-B102-6353CDD51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14878" y="1123950"/>
            <a:ext cx="2714244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8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우리 가족의 일">
            <a:extLst>
              <a:ext uri="{FF2B5EF4-FFF2-40B4-BE49-F238E27FC236}">
                <a16:creationId xmlns:a16="http://schemas.microsoft.com/office/drawing/2014/main" id="{B54B31A7-692E-4605-A3C9-76CE762F544E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우리 가족의 일</a:t>
            </a:r>
          </a:p>
        </p:txBody>
      </p:sp>
      <p:sp>
        <p:nvSpPr>
          <p:cNvPr id="2" name="종중">
            <a:extLst>
              <a:ext uri="{FF2B5EF4-FFF2-40B4-BE49-F238E27FC236}">
                <a16:creationId xmlns:a16="http://schemas.microsoft.com/office/drawing/2014/main" id="{08E31101-D51B-4C34-9A8D-BC02FFD6602C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종중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C96351F2-0DE0-4467-8AD8-77C7E32479B4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EAC333-12E5-47A5-B5E4-6B778859A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6800" y="1847850"/>
            <a:ext cx="952500" cy="952500"/>
          </a:xfrm>
          <a:prstGeom prst="rect">
            <a:avLst/>
          </a:prstGeom>
        </p:spPr>
      </p:pic>
      <p:sp>
        <p:nvSpPr>
          <p:cNvPr id="5" name="뿌리">
            <a:extLst>
              <a:ext uri="{FF2B5EF4-FFF2-40B4-BE49-F238E27FC236}">
                <a16:creationId xmlns:a16="http://schemas.microsoft.com/office/drawing/2014/main" id="{4D658857-C899-4C37-9713-3B41970E3ED6}"/>
              </a:ext>
            </a:extLst>
          </p:cNvPr>
          <p:cNvSpPr>
            <a:spLocks noGrp="1"/>
          </p:cNvSpPr>
          <p:nvPr/>
        </p:nvSpPr>
        <p:spPr>
          <a:xfrm>
            <a:off x="581025" y="3333750"/>
            <a:ext cx="19240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뿌리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2A1304-6F8C-4846-AF7C-B04A3881F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81350" y="1847850"/>
            <a:ext cx="952500" cy="952500"/>
          </a:xfrm>
          <a:prstGeom prst="rect">
            <a:avLst/>
          </a:prstGeom>
        </p:spPr>
      </p:pic>
      <p:sp>
        <p:nvSpPr>
          <p:cNvPr id="7" name="공동재산">
            <a:extLst>
              <a:ext uri="{FF2B5EF4-FFF2-40B4-BE49-F238E27FC236}">
                <a16:creationId xmlns:a16="http://schemas.microsoft.com/office/drawing/2014/main" id="{340D3773-C53A-4120-A57B-4306FA363D4D}"/>
              </a:ext>
            </a:extLst>
          </p:cNvPr>
          <p:cNvSpPr>
            <a:spLocks noGrp="1"/>
          </p:cNvSpPr>
          <p:nvPr/>
        </p:nvSpPr>
        <p:spPr>
          <a:xfrm>
            <a:off x="2695575" y="3333750"/>
            <a:ext cx="19240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공동재산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2BE4FC-A514-4015-AD6E-47005EA7F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295900" y="1847850"/>
            <a:ext cx="952500" cy="952500"/>
          </a:xfrm>
          <a:prstGeom prst="rect">
            <a:avLst/>
          </a:prstGeom>
        </p:spPr>
      </p:pic>
      <p:sp>
        <p:nvSpPr>
          <p:cNvPr id="9" name="기록">
            <a:extLst>
              <a:ext uri="{FF2B5EF4-FFF2-40B4-BE49-F238E27FC236}">
                <a16:creationId xmlns:a16="http://schemas.microsoft.com/office/drawing/2014/main" id="{1654A6D1-03BF-47CA-99B0-5906113A4EEB}"/>
              </a:ext>
            </a:extLst>
          </p:cNvPr>
          <p:cNvSpPr>
            <a:spLocks noGrp="1"/>
          </p:cNvSpPr>
          <p:nvPr/>
        </p:nvSpPr>
        <p:spPr>
          <a:xfrm>
            <a:off x="4810125" y="3333750"/>
            <a:ext cx="19240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1C4BF86-EEA7-4FAE-AE42-2AB0D73746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10450" y="1847850"/>
            <a:ext cx="952500" cy="952500"/>
          </a:xfrm>
          <a:prstGeom prst="rect">
            <a:avLst/>
          </a:prstGeom>
        </p:spPr>
      </p:pic>
      <p:sp>
        <p:nvSpPr>
          <p:cNvPr id="11" name="종원">
            <a:extLst>
              <a:ext uri="{FF2B5EF4-FFF2-40B4-BE49-F238E27FC236}">
                <a16:creationId xmlns:a16="http://schemas.microsoft.com/office/drawing/2014/main" id="{E1140AFB-4AA9-4D8A-8564-18A186657525}"/>
              </a:ext>
            </a:extLst>
          </p:cNvPr>
          <p:cNvSpPr>
            <a:spLocks noGrp="1"/>
          </p:cNvSpPr>
          <p:nvPr/>
        </p:nvSpPr>
        <p:spPr>
          <a:xfrm>
            <a:off x="6924675" y="3333750"/>
            <a:ext cx="19240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종원</a:t>
            </a:r>
          </a:p>
        </p:txBody>
      </p:sp>
    </p:spTree>
    <p:extLst>
      <p:ext uri="{BB962C8B-B14F-4D97-AF65-F5344CB8AC3E}">
        <p14:creationId xmlns:p14="http://schemas.microsoft.com/office/powerpoint/2010/main" val="54243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공개 보도 사례">
            <a:extLst>
              <a:ext uri="{FF2B5EF4-FFF2-40B4-BE49-F238E27FC236}">
                <a16:creationId xmlns:a16="http://schemas.microsoft.com/office/drawing/2014/main" id="{8F1AB78E-68DE-46DB-8DF7-6CA663604657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공개 보도 사례</a:t>
            </a:r>
          </a:p>
        </p:txBody>
      </p:sp>
      <p:sp>
        <p:nvSpPr>
          <p:cNvPr id="2" name="다툼과 소송의 온상">
            <a:extLst>
              <a:ext uri="{FF2B5EF4-FFF2-40B4-BE49-F238E27FC236}">
                <a16:creationId xmlns:a16="http://schemas.microsoft.com/office/drawing/2014/main" id="{C0248D8F-65FC-4FAB-B7C1-7901377D11C9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다툼과 소송의 온상</a:t>
            </a: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1EB2348B-EF2E-4A86-BD81-73697344073E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F669C7-2520-4E4F-82A6-8BC6306F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1123" y="1552575"/>
            <a:ext cx="4946204" cy="2781300"/>
          </a:xfrm>
          <a:prstGeom prst="rect">
            <a:avLst/>
          </a:prstGeom>
        </p:spPr>
      </p:pic>
      <p:sp>
        <p:nvSpPr>
          <p:cNvPr id="5" name="약">
            <a:extLst>
              <a:ext uri="{FF2B5EF4-FFF2-40B4-BE49-F238E27FC236}">
                <a16:creationId xmlns:a16="http://schemas.microsoft.com/office/drawing/2014/main" id="{157545E6-A50C-4FE3-A753-8A4BAD0E70F4}"/>
              </a:ext>
            </a:extLst>
          </p:cNvPr>
          <p:cNvSpPr>
            <a:spLocks noGrp="1"/>
          </p:cNvSpPr>
          <p:nvPr/>
        </p:nvSpPr>
        <p:spPr>
          <a:xfrm>
            <a:off x="6553200" y="160020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7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약</a:t>
            </a:r>
          </a:p>
        </p:txBody>
      </p:sp>
      <p:sp>
        <p:nvSpPr>
          <p:cNvPr id="6" name="4">
            <a:extLst>
              <a:ext uri="{FF2B5EF4-FFF2-40B4-BE49-F238E27FC236}">
                <a16:creationId xmlns:a16="http://schemas.microsoft.com/office/drawing/2014/main" id="{073C4038-ACF8-403E-A37B-AB24480D9FDD}"/>
              </a:ext>
            </a:extLst>
          </p:cNvPr>
          <p:cNvSpPr>
            <a:spLocks noGrp="1"/>
          </p:cNvSpPr>
          <p:nvPr/>
        </p:nvSpPr>
        <p:spPr>
          <a:xfrm>
            <a:off x="6467475" y="1809750"/>
            <a:ext cx="1428750" cy="144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8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98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98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" name="년">
            <a:extLst>
              <a:ext uri="{FF2B5EF4-FFF2-40B4-BE49-F238E27FC236}">
                <a16:creationId xmlns:a16="http://schemas.microsoft.com/office/drawing/2014/main" id="{EABECE66-A6A1-435F-B3BA-D8249C1C535B}"/>
              </a:ext>
            </a:extLst>
          </p:cNvPr>
          <p:cNvSpPr>
            <a:spLocks noGrp="1"/>
          </p:cNvSpPr>
          <p:nvPr/>
        </p:nvSpPr>
        <p:spPr>
          <a:xfrm>
            <a:off x="7610475" y="2552700"/>
            <a:ext cx="9048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55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55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55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년</a:t>
            </a:r>
          </a:p>
        </p:txBody>
      </p:sp>
      <p:sp>
        <p:nvSpPr>
          <p:cNvPr id="8" name="법정 다툼">
            <a:extLst>
              <a:ext uri="{FF2B5EF4-FFF2-40B4-BE49-F238E27FC236}">
                <a16:creationId xmlns:a16="http://schemas.microsoft.com/office/drawing/2014/main" id="{9373DDA6-9D0B-4207-BAEF-CACB4B0F805C}"/>
              </a:ext>
            </a:extLst>
          </p:cNvPr>
          <p:cNvSpPr>
            <a:spLocks noGrp="1"/>
          </p:cNvSpPr>
          <p:nvPr/>
        </p:nvSpPr>
        <p:spPr>
          <a:xfrm>
            <a:off x="6543675" y="3543300"/>
            <a:ext cx="21431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법정 다툼</a:t>
            </a:r>
          </a:p>
        </p:txBody>
      </p:sp>
    </p:spTree>
    <p:extLst>
      <p:ext uri="{BB962C8B-B14F-4D97-AF65-F5344CB8AC3E}">
        <p14:creationId xmlns:p14="http://schemas.microsoft.com/office/powerpoint/2010/main" val="52571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문제가 생기는 곳">
            <a:extLst>
              <a:ext uri="{FF2B5EF4-FFF2-40B4-BE49-F238E27FC236}">
                <a16:creationId xmlns:a16="http://schemas.microsoft.com/office/drawing/2014/main" id="{8515A216-38B6-43C8-A874-7AF3F62F21A4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문제가 생기는 곳</a:t>
            </a:r>
          </a:p>
        </p:txBody>
      </p:sp>
      <p:sp>
        <p:nvSpPr>
          <p:cNvPr id="2" name="지위·임대차·대표권">
            <a:extLst>
              <a:ext uri="{FF2B5EF4-FFF2-40B4-BE49-F238E27FC236}">
                <a16:creationId xmlns:a16="http://schemas.microsoft.com/office/drawing/2014/main" id="{8A5BC9F2-31F7-42F1-A256-4A605548F29A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지위·임대차·대표권</a:t>
            </a: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339F0E1F-8CFE-483E-94CB-F92B722BB786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" name="종손 지위">
            <a:extLst>
              <a:ext uri="{FF2B5EF4-FFF2-40B4-BE49-F238E27FC236}">
                <a16:creationId xmlns:a16="http://schemas.microsoft.com/office/drawing/2014/main" id="{D0A5532D-A751-4540-A2B8-C1060D6986AA}"/>
              </a:ext>
            </a:extLst>
          </p:cNvPr>
          <p:cNvSpPr>
            <a:spLocks noGrp="1"/>
          </p:cNvSpPr>
          <p:nvPr/>
        </p:nvSpPr>
        <p:spPr>
          <a:xfrm>
            <a:off x="495300" y="1514475"/>
            <a:ext cx="18764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종손 지위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304E92-7062-40E8-91DB-FB4450EFD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71725" y="1548844"/>
            <a:ext cx="6229350" cy="397986"/>
          </a:xfrm>
          <a:prstGeom prst="rect">
            <a:avLst/>
          </a:prstGeom>
        </p:spPr>
      </p:pic>
      <p:sp>
        <p:nvSpPr>
          <p:cNvPr id="6" name="법치뉴스 2026.04.28">
            <a:extLst>
              <a:ext uri="{FF2B5EF4-FFF2-40B4-BE49-F238E27FC236}">
                <a16:creationId xmlns:a16="http://schemas.microsoft.com/office/drawing/2014/main" id="{BF3530F8-4432-4717-912B-B3FC62F1ECD0}"/>
              </a:ext>
            </a:extLst>
          </p:cNvPr>
          <p:cNvSpPr>
            <a:spLocks noGrp="1"/>
          </p:cNvSpPr>
          <p:nvPr/>
        </p:nvSpPr>
        <p:spPr>
          <a:xfrm>
            <a:off x="2409825" y="2114550"/>
            <a:ext cx="61817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1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법치뉴스 2026.04.28</a:t>
            </a:r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2ABF5C58-1E5B-4D44-851D-18351448B7D2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8096250" cy="0"/>
          </a:xfrm>
          <a:prstGeom prst="line">
            <a:avLst/>
          </a:prstGeom>
          <a:noFill/>
          <a:ln w="9525">
            <a:solidFill>
              <a:srgbClr val="D2DCD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임대차">
            <a:extLst>
              <a:ext uri="{FF2B5EF4-FFF2-40B4-BE49-F238E27FC236}">
                <a16:creationId xmlns:a16="http://schemas.microsoft.com/office/drawing/2014/main" id="{BA75B64D-83C4-4FCE-BFA6-C2B5A6AF56B0}"/>
              </a:ext>
            </a:extLst>
          </p:cNvPr>
          <p:cNvSpPr>
            <a:spLocks noGrp="1"/>
          </p:cNvSpPr>
          <p:nvPr/>
        </p:nvSpPr>
        <p:spPr>
          <a:xfrm>
            <a:off x="495300" y="2562225"/>
            <a:ext cx="18764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임대차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F059DD3-D838-4FD5-B3D0-23CD82313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71725" y="2616782"/>
            <a:ext cx="6229350" cy="357611"/>
          </a:xfrm>
          <a:prstGeom prst="rect">
            <a:avLst/>
          </a:prstGeom>
        </p:spPr>
      </p:pic>
      <p:sp>
        <p:nvSpPr>
          <p:cNvPr id="10" name="충청투데이 2026.07.10">
            <a:extLst>
              <a:ext uri="{FF2B5EF4-FFF2-40B4-BE49-F238E27FC236}">
                <a16:creationId xmlns:a16="http://schemas.microsoft.com/office/drawing/2014/main" id="{F8B57F90-D3ED-4BA1-927D-EEC5BD1DFCE6}"/>
              </a:ext>
            </a:extLst>
          </p:cNvPr>
          <p:cNvSpPr>
            <a:spLocks noGrp="1"/>
          </p:cNvSpPr>
          <p:nvPr/>
        </p:nvSpPr>
        <p:spPr>
          <a:xfrm>
            <a:off x="2409825" y="3162300"/>
            <a:ext cx="61817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1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충청투데이 2026.07.10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B6A68AEC-F142-4C0D-9CEE-0D0704B1F86F}"/>
              </a:ext>
            </a:extLst>
          </p:cNvPr>
          <p:cNvSpPr>
            <a:spLocks noGrp="1"/>
          </p:cNvSpPr>
          <p:nvPr/>
        </p:nvSpPr>
        <p:spPr>
          <a:xfrm>
            <a:off x="495300" y="3429000"/>
            <a:ext cx="8096250" cy="0"/>
          </a:xfrm>
          <a:prstGeom prst="line">
            <a:avLst/>
          </a:prstGeom>
          <a:noFill/>
          <a:ln w="9525">
            <a:solidFill>
              <a:srgbClr val="D2DCD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대표권">
            <a:extLst>
              <a:ext uri="{FF2B5EF4-FFF2-40B4-BE49-F238E27FC236}">
                <a16:creationId xmlns:a16="http://schemas.microsoft.com/office/drawing/2014/main" id="{F438CBA6-2CD7-499C-9E60-36AFF2D0ADF8}"/>
              </a:ext>
            </a:extLst>
          </p:cNvPr>
          <p:cNvSpPr>
            <a:spLocks noGrp="1"/>
          </p:cNvSpPr>
          <p:nvPr/>
        </p:nvSpPr>
        <p:spPr>
          <a:xfrm>
            <a:off x="495300" y="3609975"/>
            <a:ext cx="18764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대표권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DBB256-A834-48F6-BE6B-30AE92F8E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00699" y="3524250"/>
            <a:ext cx="4771402" cy="638175"/>
          </a:xfrm>
          <a:prstGeom prst="rect">
            <a:avLst/>
          </a:prstGeom>
        </p:spPr>
      </p:pic>
      <p:sp>
        <p:nvSpPr>
          <p:cNvPr id="14" name="한경BUSINESS 2026.07.24">
            <a:extLst>
              <a:ext uri="{FF2B5EF4-FFF2-40B4-BE49-F238E27FC236}">
                <a16:creationId xmlns:a16="http://schemas.microsoft.com/office/drawing/2014/main" id="{896AD267-4F31-407B-8A74-9FDC55647C07}"/>
              </a:ext>
            </a:extLst>
          </p:cNvPr>
          <p:cNvSpPr>
            <a:spLocks noGrp="1"/>
          </p:cNvSpPr>
          <p:nvPr/>
        </p:nvSpPr>
        <p:spPr>
          <a:xfrm>
            <a:off x="2409825" y="4210050"/>
            <a:ext cx="61817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1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한경BUSINESS 2026.07.24</a:t>
            </a:r>
          </a:p>
        </p:txBody>
      </p:sp>
    </p:spTree>
    <p:extLst>
      <p:ext uri="{BB962C8B-B14F-4D97-AF65-F5344CB8AC3E}">
        <p14:creationId xmlns:p14="http://schemas.microsoft.com/office/powerpoint/2010/main" val="77159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공개 판례 검색">
            <a:extLst>
              <a:ext uri="{FF2B5EF4-FFF2-40B4-BE49-F238E27FC236}">
                <a16:creationId xmlns:a16="http://schemas.microsoft.com/office/drawing/2014/main" id="{62CAAD02-7EF9-4A95-8E47-9E7ECACDF956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공개 판례 검색</a:t>
            </a:r>
          </a:p>
        </p:txBody>
      </p:sp>
      <p:sp>
        <p:nvSpPr>
          <p:cNvPr id="2" name="종중 관련 공개 판례">
            <a:extLst>
              <a:ext uri="{FF2B5EF4-FFF2-40B4-BE49-F238E27FC236}">
                <a16:creationId xmlns:a16="http://schemas.microsoft.com/office/drawing/2014/main" id="{93551106-7073-43C8-BEFE-18A8F1DF4361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종중 관련 공개 판례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22EBB01F-61DA-4FB6-9777-D86EB1133BA9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7EF338-78A6-470A-B29C-2E2560956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00200" y="2133600"/>
            <a:ext cx="1076325" cy="1076325"/>
          </a:xfrm>
          <a:prstGeom prst="rect">
            <a:avLst/>
          </a:prstGeom>
        </p:spPr>
      </p:pic>
      <p:sp>
        <p:nvSpPr>
          <p:cNvPr id="5" name="1,416">
            <a:extLst>
              <a:ext uri="{FF2B5EF4-FFF2-40B4-BE49-F238E27FC236}">
                <a16:creationId xmlns:a16="http://schemas.microsoft.com/office/drawing/2014/main" id="{BC04F231-1D83-4ADC-AA01-962CE58AD76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37147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9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9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09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1,416</a:t>
            </a:r>
          </a:p>
        </p:txBody>
      </p:sp>
      <p:sp>
        <p:nvSpPr>
          <p:cNvPr id="6" name="건">
            <a:extLst>
              <a:ext uri="{FF2B5EF4-FFF2-40B4-BE49-F238E27FC236}">
                <a16:creationId xmlns:a16="http://schemas.microsoft.com/office/drawing/2014/main" id="{18C8E51F-F293-48E2-B13F-526DBD5AF203}"/>
              </a:ext>
            </a:extLst>
          </p:cNvPr>
          <p:cNvSpPr>
            <a:spLocks noGrp="1"/>
          </p:cNvSpPr>
          <p:nvPr/>
        </p:nvSpPr>
        <p:spPr>
          <a:xfrm>
            <a:off x="6896100" y="2771775"/>
            <a:ext cx="638175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건</a:t>
            </a:r>
          </a:p>
        </p:txBody>
      </p:sp>
    </p:spTree>
    <p:extLst>
      <p:ext uri="{BB962C8B-B14F-4D97-AF65-F5344CB8AC3E}">
        <p14:creationId xmlns:p14="http://schemas.microsoft.com/office/powerpoint/2010/main" val="1948257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결국, 누군가 이어받는 일">
            <a:extLst>
              <a:ext uri="{FF2B5EF4-FFF2-40B4-BE49-F238E27FC236}">
                <a16:creationId xmlns:a16="http://schemas.microsoft.com/office/drawing/2014/main" id="{E1F340D4-3F59-45C1-8FE8-0CA0191137F9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결국, 누군가 이어받는 일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39293867-9C09-47BA-BB7D-4B8080D903D7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BA390F-ECA5-4CC8-9DF2-BC430D864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66825" y="1676400"/>
            <a:ext cx="914400" cy="914400"/>
          </a:xfrm>
          <a:prstGeom prst="rect">
            <a:avLst/>
          </a:prstGeom>
        </p:spPr>
      </p:pic>
      <p:sp>
        <p:nvSpPr>
          <p:cNvPr id="4" name="과거의 유산">
            <a:extLst>
              <a:ext uri="{FF2B5EF4-FFF2-40B4-BE49-F238E27FC236}">
                <a16:creationId xmlns:a16="http://schemas.microsoft.com/office/drawing/2014/main" id="{3D12BD28-69C6-4A4F-B0EC-BBDBE0ADD900}"/>
              </a:ext>
            </a:extLst>
          </p:cNvPr>
          <p:cNvSpPr>
            <a:spLocks noGrp="1"/>
          </p:cNvSpPr>
          <p:nvPr/>
        </p:nvSpPr>
        <p:spPr>
          <a:xfrm>
            <a:off x="542925" y="3067050"/>
            <a:ext cx="24669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과거의 유산</a:t>
            </a: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84DC6C2-F075-49ED-ACEB-FA66BA4578C8}"/>
              </a:ext>
            </a:extLst>
          </p:cNvPr>
          <p:cNvSpPr>
            <a:spLocks noGrp="1"/>
          </p:cNvSpPr>
          <p:nvPr/>
        </p:nvSpPr>
        <p:spPr>
          <a:xfrm>
            <a:off x="3000375" y="2066925"/>
            <a:ext cx="333375" cy="133350"/>
          </a:xfrm>
          <a:prstGeom prst="rightArrow">
            <a:avLst/>
          </a:prstGeom>
          <a:solidFill>
            <a:srgbClr val="567D8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572D5E-B7C5-4208-AB38-5E7EEF24D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95750" y="1676400"/>
            <a:ext cx="914400" cy="914400"/>
          </a:xfrm>
          <a:prstGeom prst="rect">
            <a:avLst/>
          </a:prstGeom>
        </p:spPr>
      </p:pic>
      <p:sp>
        <p:nvSpPr>
          <p:cNvPr id="7" name="오늘의 일상">
            <a:extLst>
              <a:ext uri="{FF2B5EF4-FFF2-40B4-BE49-F238E27FC236}">
                <a16:creationId xmlns:a16="http://schemas.microsoft.com/office/drawing/2014/main" id="{F0B4B809-C002-4207-9D29-D728C5DF5CE9}"/>
              </a:ext>
            </a:extLst>
          </p:cNvPr>
          <p:cNvSpPr>
            <a:spLocks noGrp="1"/>
          </p:cNvSpPr>
          <p:nvPr/>
        </p:nvSpPr>
        <p:spPr>
          <a:xfrm>
            <a:off x="3371850" y="3067050"/>
            <a:ext cx="24669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오늘의 일상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F6AA5C1-7EF6-42DB-9DB5-E282E77E4897}"/>
              </a:ext>
            </a:extLst>
          </p:cNvPr>
          <p:cNvSpPr>
            <a:spLocks noGrp="1"/>
          </p:cNvSpPr>
          <p:nvPr/>
        </p:nvSpPr>
        <p:spPr>
          <a:xfrm>
            <a:off x="5829300" y="2066925"/>
            <a:ext cx="333375" cy="133350"/>
          </a:xfrm>
          <a:prstGeom prst="rightArrow">
            <a:avLst/>
          </a:prstGeom>
          <a:solidFill>
            <a:srgbClr val="567D8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29D185-9630-4C30-BEFC-F8C454871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924675" y="1676400"/>
            <a:ext cx="914400" cy="914400"/>
          </a:xfrm>
          <a:prstGeom prst="rect">
            <a:avLst/>
          </a:prstGeom>
        </p:spPr>
      </p:pic>
      <p:sp>
        <p:nvSpPr>
          <p:cNvPr id="10" name="미래의 문제">
            <a:extLst>
              <a:ext uri="{FF2B5EF4-FFF2-40B4-BE49-F238E27FC236}">
                <a16:creationId xmlns:a16="http://schemas.microsoft.com/office/drawing/2014/main" id="{5483D923-CF6F-4D5C-903B-2E036AC276E6}"/>
              </a:ext>
            </a:extLst>
          </p:cNvPr>
          <p:cNvSpPr>
            <a:spLocks noGrp="1"/>
          </p:cNvSpPr>
          <p:nvPr/>
        </p:nvSpPr>
        <p:spPr>
          <a:xfrm>
            <a:off x="6200775" y="3067050"/>
            <a:ext cx="24669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미래의 문제</a:t>
            </a:r>
          </a:p>
        </p:txBody>
      </p:sp>
    </p:spTree>
    <p:extLst>
      <p:ext uri="{BB962C8B-B14F-4D97-AF65-F5344CB8AC3E}">
        <p14:creationId xmlns:p14="http://schemas.microsoft.com/office/powerpoint/2010/main" val="191772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한 번">
            <a:extLst>
              <a:ext uri="{FF2B5EF4-FFF2-40B4-BE49-F238E27FC236}">
                <a16:creationId xmlns:a16="http://schemas.microsoft.com/office/drawing/2014/main" id="{EE03BE1E-3B27-420E-8456-D1AE7481B1DC}"/>
              </a:ext>
            </a:extLst>
          </p:cNvPr>
          <p:cNvSpPr>
            <a:spLocks noGrp="1"/>
          </p:cNvSpPr>
          <p:nvPr/>
        </p:nvSpPr>
        <p:spPr>
          <a:xfrm>
            <a:off x="657225" y="1181100"/>
            <a:ext cx="7810500" cy="1057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07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607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6075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한 번</a:t>
            </a:r>
          </a:p>
        </p:txBody>
      </p:sp>
      <p:sp>
        <p:nvSpPr>
          <p:cNvPr id="2" name="망했습니다">
            <a:extLst>
              <a:ext uri="{FF2B5EF4-FFF2-40B4-BE49-F238E27FC236}">
                <a16:creationId xmlns:a16="http://schemas.microsoft.com/office/drawing/2014/main" id="{DB6A33C4-59E2-4576-8A36-620F304D12BA}"/>
              </a:ext>
            </a:extLst>
          </p:cNvPr>
          <p:cNvSpPr>
            <a:spLocks noGrp="1"/>
          </p:cNvSpPr>
          <p:nvPr/>
        </p:nvSpPr>
        <p:spPr>
          <a:xfrm>
            <a:off x="647700" y="2371725"/>
            <a:ext cx="7953375" cy="1133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30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630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6300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망했습니다</a:t>
            </a:r>
          </a:p>
        </p:txBody>
      </p:sp>
    </p:spTree>
    <p:extLst>
      <p:ext uri="{BB962C8B-B14F-4D97-AF65-F5344CB8AC3E}">
        <p14:creationId xmlns:p14="http://schemas.microsoft.com/office/powerpoint/2010/main" val="106179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575C724-C710-4B8F-817B-DBE1D41A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2" name="AI ERA">
            <a:extLst>
              <a:ext uri="{FF2B5EF4-FFF2-40B4-BE49-F238E27FC236}">
                <a16:creationId xmlns:a16="http://schemas.microsoft.com/office/drawing/2014/main" id="{46F82A05-B0D0-4942-8F93-3D154EDCA751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3971925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59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59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59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AI ERA</a:t>
            </a:r>
          </a:p>
        </p:txBody>
      </p:sp>
      <p:sp>
        <p:nvSpPr>
          <p:cNvPr id="3" name="녹음">
            <a:extLst>
              <a:ext uri="{FF2B5EF4-FFF2-40B4-BE49-F238E27FC236}">
                <a16:creationId xmlns:a16="http://schemas.microsoft.com/office/drawing/2014/main" id="{F86A6C70-2237-410C-A471-908F569C2237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34385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녹음</a:t>
            </a:r>
          </a:p>
        </p:txBody>
      </p:sp>
      <p:sp>
        <p:nvSpPr>
          <p:cNvPr id="4" name="문서 초안">
            <a:extLst>
              <a:ext uri="{FF2B5EF4-FFF2-40B4-BE49-F238E27FC236}">
                <a16:creationId xmlns:a16="http://schemas.microsoft.com/office/drawing/2014/main" id="{8F40EACE-174E-4BE6-BFB7-4085969980A3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34385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문서 초안</a:t>
            </a:r>
          </a:p>
        </p:txBody>
      </p:sp>
      <p:sp>
        <p:nvSpPr>
          <p:cNvPr id="5" name="자료 비교">
            <a:extLst>
              <a:ext uri="{FF2B5EF4-FFF2-40B4-BE49-F238E27FC236}">
                <a16:creationId xmlns:a16="http://schemas.microsoft.com/office/drawing/2014/main" id="{3D2C049E-1036-4650-938D-FC0C6BD32AAD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34385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자료 비교</a:t>
            </a:r>
          </a:p>
        </p:txBody>
      </p:sp>
    </p:spTree>
    <p:extLst>
      <p:ext uri="{BB962C8B-B14F-4D97-AF65-F5344CB8AC3E}">
        <p14:creationId xmlns:p14="http://schemas.microsoft.com/office/powerpoint/2010/main" val="1490107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3F5473-08B5-408C-81CD-283843EB2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2" name="우리 가문은">
            <a:extLst>
              <a:ext uri="{FF2B5EF4-FFF2-40B4-BE49-F238E27FC236}">
                <a16:creationId xmlns:a16="http://schemas.microsoft.com/office/drawing/2014/main" id="{F97949C1-ECF4-4D90-B9D5-F068D3B427AC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35909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025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우리 가문은</a:t>
            </a:r>
          </a:p>
        </p:txBody>
      </p:sp>
      <p:sp>
        <p:nvSpPr>
          <p:cNvPr id="3" name="명문가">
            <a:extLst>
              <a:ext uri="{FF2B5EF4-FFF2-40B4-BE49-F238E27FC236}">
                <a16:creationId xmlns:a16="http://schemas.microsoft.com/office/drawing/2014/main" id="{D4F82489-6A2C-438F-879A-44B9BB10E9E6}"/>
              </a:ext>
            </a:extLst>
          </p:cNvPr>
          <p:cNvSpPr>
            <a:spLocks noGrp="1"/>
          </p:cNvSpPr>
          <p:nvPr/>
        </p:nvSpPr>
        <p:spPr>
          <a:xfrm>
            <a:off x="514350" y="1724025"/>
            <a:ext cx="4210050" cy="1200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8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68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pPr>
            <a:r>
              <a:rPr sz="68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rPr>
              <a:t>명문가</a:t>
            </a:r>
          </a:p>
        </p:txBody>
      </p:sp>
      <p:sp>
        <p:nvSpPr>
          <p:cNvPr id="4" name="종중 운영의 모든것">
            <a:extLst>
              <a:ext uri="{FF2B5EF4-FFF2-40B4-BE49-F238E27FC236}">
                <a16:creationId xmlns:a16="http://schemas.microsoft.com/office/drawing/2014/main" id="{8382061D-BDE2-4DF6-9FA1-5E8854F6815A}"/>
              </a:ext>
            </a:extLst>
          </p:cNvPr>
          <p:cNvSpPr>
            <a:spLocks noGrp="1"/>
          </p:cNvSpPr>
          <p:nvPr/>
        </p:nvSpPr>
        <p:spPr>
          <a:xfrm>
            <a:off x="561975" y="3162300"/>
            <a:ext cx="40386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025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종중 운영의 모든것</a:t>
            </a:r>
          </a:p>
        </p:txBody>
      </p:sp>
    </p:spTree>
    <p:extLst>
      <p:ext uri="{BB962C8B-B14F-4D97-AF65-F5344CB8AC3E}">
        <p14:creationId xmlns:p14="http://schemas.microsoft.com/office/powerpoint/2010/main" val="41298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종중 홈">
            <a:extLst>
              <a:ext uri="{FF2B5EF4-FFF2-40B4-BE49-F238E27FC236}">
                <a16:creationId xmlns:a16="http://schemas.microsoft.com/office/drawing/2014/main" id="{AF7FFE0C-CB13-4921-8126-9B6F0EB7EE5F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종중 홈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28D4FD63-E356-4548-B29F-34B124C7C9EB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" name="오늘 확인할 일.">
            <a:extLst>
              <a:ext uri="{FF2B5EF4-FFF2-40B4-BE49-F238E27FC236}">
                <a16:creationId xmlns:a16="http://schemas.microsoft.com/office/drawing/2014/main" id="{24150168-A1E1-4D00-9CDF-6437A8E4BB67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4000500" cy="1781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4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오늘</a:t>
            </a:r>
          </a:p>
          <a:p>
            <a:pPr algn="l">
              <a:defRPr sz="4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확인할 일.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1566A9-51FF-4327-A6FC-F59D55854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" y="3286125"/>
            <a:ext cx="266700" cy="266700"/>
          </a:xfrm>
          <a:prstGeom prst="rect">
            <a:avLst/>
          </a:prstGeom>
        </p:spPr>
      </p:pic>
      <p:sp>
        <p:nvSpPr>
          <p:cNvPr id="5" name="일정·미응답을 한눈에">
            <a:extLst>
              <a:ext uri="{FF2B5EF4-FFF2-40B4-BE49-F238E27FC236}">
                <a16:creationId xmlns:a16="http://schemas.microsoft.com/office/drawing/2014/main" id="{A22778AE-2B64-45EB-AC97-721850D76643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650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일정·미응답을 한눈에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C82526-67E0-4FC5-8597-04381599E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4825" y="3933825"/>
            <a:ext cx="266700" cy="266700"/>
          </a:xfrm>
          <a:prstGeom prst="rect">
            <a:avLst/>
          </a:prstGeom>
        </p:spPr>
      </p:pic>
      <p:sp>
        <p:nvSpPr>
          <p:cNvPr id="7" name="명부부터 기록까지 한곳에">
            <a:extLst>
              <a:ext uri="{FF2B5EF4-FFF2-40B4-BE49-F238E27FC236}">
                <a16:creationId xmlns:a16="http://schemas.microsoft.com/office/drawing/2014/main" id="{E650B110-F6C0-4503-8601-C8E1C8106A32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650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명부부터 기록까지 한곳에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D601D4-E45D-4AFB-819E-5272A4A88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43250" y="1323975"/>
            <a:ext cx="5962650" cy="318475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59550D1-AB04-4ED4-85CE-8C8BEA343444}"/>
              </a:ext>
            </a:extLst>
          </p:cNvPr>
          <p:cNvSpPr>
            <a:spLocks noGrp="1"/>
          </p:cNvSpPr>
          <p:nvPr/>
        </p:nvSpPr>
        <p:spPr>
          <a:xfrm>
            <a:off x="4209512" y="1585864"/>
            <a:ext cx="3830126" cy="2403766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FDE7A3-5D40-4268-B483-DB7E92D084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09512" y="1585864"/>
            <a:ext cx="3830126" cy="24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61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설립 준비">
            <a:extLst>
              <a:ext uri="{FF2B5EF4-FFF2-40B4-BE49-F238E27FC236}">
                <a16:creationId xmlns:a16="http://schemas.microsoft.com/office/drawing/2014/main" id="{E15ACA15-04D9-432E-B11B-4BBFEC804221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설립 준비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2416033D-AD13-4289-AF78-E24A3396E92E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1D65842-D442-4425-8190-1613C0CFB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" y="1343025"/>
            <a:ext cx="5810250" cy="310335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9CFECE0-B9E0-44B6-B97A-A216562E7670}"/>
              </a:ext>
            </a:extLst>
          </p:cNvPr>
          <p:cNvSpPr>
            <a:spLocks noGrp="1"/>
          </p:cNvSpPr>
          <p:nvPr/>
        </p:nvSpPr>
        <p:spPr>
          <a:xfrm>
            <a:off x="1086634" y="1598220"/>
            <a:ext cx="3732231" cy="234232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C1C8FB-15FF-46D7-908E-83D2780B4A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86634" y="1598220"/>
            <a:ext cx="3732231" cy="2342328"/>
          </a:xfrm>
          <a:prstGeom prst="rect">
            <a:avLst/>
          </a:prstGeom>
        </p:spPr>
      </p:pic>
      <p:sp>
        <p:nvSpPr>
          <p:cNvPr id="6" name="첫 서류부터 빠짐없이.">
            <a:extLst>
              <a:ext uri="{FF2B5EF4-FFF2-40B4-BE49-F238E27FC236}">
                <a16:creationId xmlns:a16="http://schemas.microsoft.com/office/drawing/2014/main" id="{0D13FD30-4BBC-40BD-9870-98EBB577222A}"/>
              </a:ext>
            </a:extLst>
          </p:cNvPr>
          <p:cNvSpPr>
            <a:spLocks noGrp="1"/>
          </p:cNvSpPr>
          <p:nvPr/>
        </p:nvSpPr>
        <p:spPr>
          <a:xfrm>
            <a:off x="5514975" y="914400"/>
            <a:ext cx="3448050" cy="151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8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8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8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첫 서류부터</a:t>
            </a:r>
          </a:p>
          <a:p>
            <a:pPr algn="l">
              <a:defRPr sz="38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8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빠짐없이.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2D1417-66BB-4D6B-8D17-C41A21AEC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00750" y="2905125"/>
            <a:ext cx="266700" cy="266700"/>
          </a:xfrm>
          <a:prstGeom prst="rect">
            <a:avLst/>
          </a:prstGeom>
        </p:spPr>
      </p:pic>
      <p:sp>
        <p:nvSpPr>
          <p:cNvPr id="8" name="빠진 서류까지 확인">
            <a:extLst>
              <a:ext uri="{FF2B5EF4-FFF2-40B4-BE49-F238E27FC236}">
                <a16:creationId xmlns:a16="http://schemas.microsoft.com/office/drawing/2014/main" id="{0C6704F0-C443-4BFB-8D4E-CBDC9EBD1EFA}"/>
              </a:ext>
            </a:extLst>
          </p:cNvPr>
          <p:cNvSpPr>
            <a:spLocks noGrp="1"/>
          </p:cNvSpPr>
          <p:nvPr/>
        </p:nvSpPr>
        <p:spPr>
          <a:xfrm>
            <a:off x="6410325" y="2876550"/>
            <a:ext cx="24669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빠진 서류까지 확인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E2D8C8-6A9F-4B69-8140-B6012AC25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00750" y="3533775"/>
            <a:ext cx="266700" cy="266700"/>
          </a:xfrm>
          <a:prstGeom prst="rect">
            <a:avLst/>
          </a:prstGeom>
        </p:spPr>
      </p:pic>
      <p:sp>
        <p:nvSpPr>
          <p:cNvPr id="10" name="추가할 항목은 명확하게">
            <a:extLst>
              <a:ext uri="{FF2B5EF4-FFF2-40B4-BE49-F238E27FC236}">
                <a16:creationId xmlns:a16="http://schemas.microsoft.com/office/drawing/2014/main" id="{90D8F5F5-6B60-4DB2-9D92-C9219DF330F6}"/>
              </a:ext>
            </a:extLst>
          </p:cNvPr>
          <p:cNvSpPr>
            <a:spLocks noGrp="1"/>
          </p:cNvSpPr>
          <p:nvPr/>
        </p:nvSpPr>
        <p:spPr>
          <a:xfrm>
            <a:off x="6410325" y="3505200"/>
            <a:ext cx="24669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추가할 항목은 명확하게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56F2D0-FC31-4048-87D8-0B37115EC0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000750" y="4162425"/>
            <a:ext cx="266700" cy="266700"/>
          </a:xfrm>
          <a:prstGeom prst="rect">
            <a:avLst/>
          </a:prstGeom>
        </p:spPr>
      </p:pic>
      <p:sp>
        <p:nvSpPr>
          <p:cNvPr id="12" name="법무사 후보까지 한 번에">
            <a:extLst>
              <a:ext uri="{FF2B5EF4-FFF2-40B4-BE49-F238E27FC236}">
                <a16:creationId xmlns:a16="http://schemas.microsoft.com/office/drawing/2014/main" id="{5772C033-3141-4E2D-9F8D-E62260FB14EB}"/>
              </a:ext>
            </a:extLst>
          </p:cNvPr>
          <p:cNvSpPr>
            <a:spLocks noGrp="1"/>
          </p:cNvSpPr>
          <p:nvPr/>
        </p:nvSpPr>
        <p:spPr>
          <a:xfrm>
            <a:off x="6410325" y="4133850"/>
            <a:ext cx="24669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법무사 후보까지 한 번에</a:t>
            </a:r>
          </a:p>
        </p:txBody>
      </p:sp>
    </p:spTree>
    <p:extLst>
      <p:ext uri="{BB962C8B-B14F-4D97-AF65-F5344CB8AC3E}">
        <p14:creationId xmlns:p14="http://schemas.microsoft.com/office/powerpoint/2010/main" val="1664420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회의 녹음">
            <a:extLst>
              <a:ext uri="{FF2B5EF4-FFF2-40B4-BE49-F238E27FC236}">
                <a16:creationId xmlns:a16="http://schemas.microsoft.com/office/drawing/2014/main" id="{63C75AE4-30B9-4B98-B82B-3B58D26523D7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회의 녹음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A44F4F8C-E6C0-49FE-B2D1-0525AB2BF124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3" name="말한 내용을 회의록으로.">
            <a:extLst>
              <a:ext uri="{FF2B5EF4-FFF2-40B4-BE49-F238E27FC236}">
                <a16:creationId xmlns:a16="http://schemas.microsoft.com/office/drawing/2014/main" id="{3C8EB113-C0B0-4DFC-8093-25844C7EA226}"/>
              </a:ext>
            </a:extLst>
          </p:cNvPr>
          <p:cNvSpPr>
            <a:spLocks noGrp="1"/>
          </p:cNvSpPr>
          <p:nvPr/>
        </p:nvSpPr>
        <p:spPr>
          <a:xfrm>
            <a:off x="514350" y="1095375"/>
            <a:ext cx="5410200" cy="1819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465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말한 내용을</a:t>
            </a:r>
          </a:p>
          <a:p>
            <a:pPr algn="l">
              <a:defRPr sz="465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회의록으로.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008576-8B75-4AF3-A7F7-B9F1B6800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3419475"/>
            <a:ext cx="304800" cy="304800"/>
          </a:xfrm>
          <a:prstGeom prst="rect">
            <a:avLst/>
          </a:prstGeom>
        </p:spPr>
      </p:pic>
      <p:sp>
        <p:nvSpPr>
          <p:cNvPr id="5" name="말은 기록으로, 기억은 근거로">
            <a:extLst>
              <a:ext uri="{FF2B5EF4-FFF2-40B4-BE49-F238E27FC236}">
                <a16:creationId xmlns:a16="http://schemas.microsoft.com/office/drawing/2014/main" id="{CC938617-19E0-4F16-B64E-C43A5AFAC1D8}"/>
              </a:ext>
            </a:extLst>
          </p:cNvPr>
          <p:cNvSpPr>
            <a:spLocks noGrp="1"/>
          </p:cNvSpPr>
          <p:nvPr/>
        </p:nvSpPr>
        <p:spPr>
          <a:xfrm>
            <a:off x="1038225" y="3390900"/>
            <a:ext cx="47529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1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말은 기록으로, 기억은 근거로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34DCB6-7544-462C-BF5B-B066A088C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0550" y="4048125"/>
            <a:ext cx="304800" cy="304800"/>
          </a:xfrm>
          <a:prstGeom prst="rect">
            <a:avLst/>
          </a:prstGeom>
        </p:spPr>
      </p:pic>
      <p:sp>
        <p:nvSpPr>
          <p:cNvPr id="7" name="녹음부터 회의록 초안까지">
            <a:extLst>
              <a:ext uri="{FF2B5EF4-FFF2-40B4-BE49-F238E27FC236}">
                <a16:creationId xmlns:a16="http://schemas.microsoft.com/office/drawing/2014/main" id="{0EF9E88B-9B71-43C8-AEDB-65F933DEDD4A}"/>
              </a:ext>
            </a:extLst>
          </p:cNvPr>
          <p:cNvSpPr>
            <a:spLocks noGrp="1"/>
          </p:cNvSpPr>
          <p:nvPr/>
        </p:nvSpPr>
        <p:spPr>
          <a:xfrm>
            <a:off x="1038225" y="4019550"/>
            <a:ext cx="47529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1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녹음부터 회의록 초안까지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47797C5-C7C0-467A-A02C-4BC89452A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91250" y="476250"/>
            <a:ext cx="2396490" cy="43719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1BB93AA-CE1F-4964-8C28-5A281597F7F6}"/>
              </a:ext>
            </a:extLst>
          </p:cNvPr>
          <p:cNvSpPr>
            <a:spLocks noGrp="1"/>
          </p:cNvSpPr>
          <p:nvPr/>
        </p:nvSpPr>
        <p:spPr>
          <a:xfrm>
            <a:off x="6498908" y="945833"/>
            <a:ext cx="1773079" cy="3137297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3C4D3E0-8794-4AAE-B788-0A08754C52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98908" y="945833"/>
            <a:ext cx="1773079" cy="31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91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문서 검색과 초안">
            <a:extLst>
              <a:ext uri="{FF2B5EF4-FFF2-40B4-BE49-F238E27FC236}">
                <a16:creationId xmlns:a16="http://schemas.microsoft.com/office/drawing/2014/main" id="{9ACE31E7-A4C3-444B-B0C3-810B3D0F43BA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문서 검색과 초안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2756BDED-7441-489E-A9D7-502ED17F5B3D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3" name="지난 회의도, 이번 초안도.">
            <a:extLst>
              <a:ext uri="{FF2B5EF4-FFF2-40B4-BE49-F238E27FC236}">
                <a16:creationId xmlns:a16="http://schemas.microsoft.com/office/drawing/2014/main" id="{F6598B62-B876-405B-9696-A59C095F6502}"/>
              </a:ext>
            </a:extLst>
          </p:cNvPr>
          <p:cNvSpPr>
            <a:spLocks noGrp="1"/>
          </p:cNvSpPr>
          <p:nvPr/>
        </p:nvSpPr>
        <p:spPr>
          <a:xfrm>
            <a:off x="485775" y="647700"/>
            <a:ext cx="8334375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6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6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지난 회의도, 이번 초안도.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C77DAA-E3A0-418B-893A-6B0429070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7650" y="1543050"/>
            <a:ext cx="5543550" cy="296090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62599B9-C166-4B66-AA12-C8E39DF867A2}"/>
              </a:ext>
            </a:extLst>
          </p:cNvPr>
          <p:cNvSpPr>
            <a:spLocks noGrp="1"/>
          </p:cNvSpPr>
          <p:nvPr/>
        </p:nvSpPr>
        <p:spPr>
          <a:xfrm>
            <a:off x="1238967" y="1786531"/>
            <a:ext cx="3560916" cy="2234812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D5A345-9B70-469B-B598-F7D1D8A60D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38967" y="1786531"/>
            <a:ext cx="3560916" cy="22348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376B219-D146-494C-A62E-414226A52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67400" y="2057400"/>
            <a:ext cx="266700" cy="266700"/>
          </a:xfrm>
          <a:prstGeom prst="rect">
            <a:avLst/>
          </a:prstGeom>
        </p:spPr>
      </p:pic>
      <p:sp>
        <p:nvSpPr>
          <p:cNvPr id="8" name="필요한 원문을 바로 찾고">
            <a:extLst>
              <a:ext uri="{FF2B5EF4-FFF2-40B4-BE49-F238E27FC236}">
                <a16:creationId xmlns:a16="http://schemas.microsoft.com/office/drawing/2014/main" id="{80C4CD9D-52E9-47E5-9BAC-CB07A2DF30C3}"/>
              </a:ext>
            </a:extLst>
          </p:cNvPr>
          <p:cNvSpPr>
            <a:spLocks noGrp="1"/>
          </p:cNvSpPr>
          <p:nvPr/>
        </p:nvSpPr>
        <p:spPr>
          <a:xfrm>
            <a:off x="6276975" y="2028825"/>
            <a:ext cx="26574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필요한 원문을 바로 찾고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333DA6-D33F-46AA-8198-075BA78D0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867400" y="2819400"/>
            <a:ext cx="266700" cy="266700"/>
          </a:xfrm>
          <a:prstGeom prst="rect">
            <a:avLst/>
          </a:prstGeom>
        </p:spPr>
      </p:pic>
      <p:sp>
        <p:nvSpPr>
          <p:cNvPr id="10" name="바뀐 내용은 버전으로 남기고">
            <a:extLst>
              <a:ext uri="{FF2B5EF4-FFF2-40B4-BE49-F238E27FC236}">
                <a16:creationId xmlns:a16="http://schemas.microsoft.com/office/drawing/2014/main" id="{AE02751C-860D-4A9E-B1E7-303ACC5F1DC7}"/>
              </a:ext>
            </a:extLst>
          </p:cNvPr>
          <p:cNvSpPr>
            <a:spLocks noGrp="1"/>
          </p:cNvSpPr>
          <p:nvPr/>
        </p:nvSpPr>
        <p:spPr>
          <a:xfrm>
            <a:off x="6276975" y="2790825"/>
            <a:ext cx="26574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바뀐 내용은 버전으로 남기고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E41BFF-24B9-46D1-95CA-142ABA3F0E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867400" y="3581400"/>
            <a:ext cx="266700" cy="266700"/>
          </a:xfrm>
          <a:prstGeom prst="rect">
            <a:avLst/>
          </a:prstGeom>
        </p:spPr>
      </p:pic>
      <p:sp>
        <p:nvSpPr>
          <p:cNvPr id="12" name="이번 초안은 근거와 함께">
            <a:extLst>
              <a:ext uri="{FF2B5EF4-FFF2-40B4-BE49-F238E27FC236}">
                <a16:creationId xmlns:a16="http://schemas.microsoft.com/office/drawing/2014/main" id="{7F884638-A7B5-4336-B715-B268D433A65C}"/>
              </a:ext>
            </a:extLst>
          </p:cNvPr>
          <p:cNvSpPr>
            <a:spLocks noGrp="1"/>
          </p:cNvSpPr>
          <p:nvPr/>
        </p:nvSpPr>
        <p:spPr>
          <a:xfrm>
            <a:off x="6276975" y="3552825"/>
            <a:ext cx="26574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이번 초안은 근거와 함께</a:t>
            </a:r>
          </a:p>
        </p:txBody>
      </p:sp>
    </p:spTree>
    <p:extLst>
      <p:ext uri="{BB962C8B-B14F-4D97-AF65-F5344CB8AC3E}">
        <p14:creationId xmlns:p14="http://schemas.microsoft.com/office/powerpoint/2010/main" val="1267272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총회와 동의">
            <a:extLst>
              <a:ext uri="{FF2B5EF4-FFF2-40B4-BE49-F238E27FC236}">
                <a16:creationId xmlns:a16="http://schemas.microsoft.com/office/drawing/2014/main" id="{875625C3-6AB8-4C18-9932-34C4DADC4460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총회와 동의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AC019A76-45BC-4716-9DF8-14F1B4BB850B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E6ABC8D-F178-403D-8A05-3B1976044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609600"/>
            <a:ext cx="2344279" cy="427672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880B539-11AC-40C5-B0A8-33EE98BA7828}"/>
              </a:ext>
            </a:extLst>
          </p:cNvPr>
          <p:cNvSpPr>
            <a:spLocks noGrp="1"/>
          </p:cNvSpPr>
          <p:nvPr/>
        </p:nvSpPr>
        <p:spPr>
          <a:xfrm>
            <a:off x="815305" y="1068952"/>
            <a:ext cx="1734450" cy="3068946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6FDECF-8F67-4C26-8C59-694E1C226D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5305" y="1068952"/>
            <a:ext cx="1734450" cy="3068946"/>
          </a:xfrm>
          <a:prstGeom prst="rect">
            <a:avLst/>
          </a:prstGeom>
        </p:spPr>
      </p:pic>
      <p:sp>
        <p:nvSpPr>
          <p:cNvPr id="6" name="누가, 어떤 안건에 동의했는지.">
            <a:extLst>
              <a:ext uri="{FF2B5EF4-FFF2-40B4-BE49-F238E27FC236}">
                <a16:creationId xmlns:a16="http://schemas.microsoft.com/office/drawing/2014/main" id="{A79C929C-104C-4FCD-B721-0D5BA9CA7BF8}"/>
              </a:ext>
            </a:extLst>
          </p:cNvPr>
          <p:cNvSpPr>
            <a:spLocks noGrp="1"/>
          </p:cNvSpPr>
          <p:nvPr/>
        </p:nvSpPr>
        <p:spPr>
          <a:xfrm>
            <a:off x="3495675" y="1000125"/>
            <a:ext cx="5334000" cy="2371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누가,</a:t>
            </a:r>
          </a:p>
          <a:p>
            <a:pPr algn="l">
              <a:def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어떤 안건에</a:t>
            </a:r>
          </a:p>
          <a:p>
            <a:pPr algn="l">
              <a:def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동의했는지.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CD3FE0-E574-4731-B6B4-B8538FCA5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81400" y="3867150"/>
            <a:ext cx="266700" cy="266700"/>
          </a:xfrm>
          <a:prstGeom prst="rect">
            <a:avLst/>
          </a:prstGeom>
        </p:spPr>
      </p:pic>
      <p:sp>
        <p:nvSpPr>
          <p:cNvPr id="8" name="모든 종중원의 동의가 필요하니까!">
            <a:extLst>
              <a:ext uri="{FF2B5EF4-FFF2-40B4-BE49-F238E27FC236}">
                <a16:creationId xmlns:a16="http://schemas.microsoft.com/office/drawing/2014/main" id="{252599F7-1B5B-4D20-B165-C97D4140D7B3}"/>
              </a:ext>
            </a:extLst>
          </p:cNvPr>
          <p:cNvSpPr>
            <a:spLocks noGrp="1"/>
          </p:cNvSpPr>
          <p:nvPr/>
        </p:nvSpPr>
        <p:spPr>
          <a:xfrm>
            <a:off x="3990975" y="3838575"/>
            <a:ext cx="48101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모든 종중원의 동의가 필요하니까!</a:t>
            </a:r>
          </a:p>
        </p:txBody>
      </p:sp>
    </p:spTree>
    <p:extLst>
      <p:ext uri="{BB962C8B-B14F-4D97-AF65-F5344CB8AC3E}">
        <p14:creationId xmlns:p14="http://schemas.microsoft.com/office/powerpoint/2010/main" val="353862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재산과 등기">
            <a:extLst>
              <a:ext uri="{FF2B5EF4-FFF2-40B4-BE49-F238E27FC236}">
                <a16:creationId xmlns:a16="http://schemas.microsoft.com/office/drawing/2014/main" id="{A0F41B5A-4E38-4899-88E0-50585CAE9D98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재산과 등기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AA105F91-9B74-4856-97F3-77CBDE13F55C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3" name="우리 종중의 땅">
            <a:extLst>
              <a:ext uri="{FF2B5EF4-FFF2-40B4-BE49-F238E27FC236}">
                <a16:creationId xmlns:a16="http://schemas.microsoft.com/office/drawing/2014/main" id="{A2303C17-0222-40E5-9811-62F6F0E65A2F}"/>
              </a:ext>
            </a:extLst>
          </p:cNvPr>
          <p:cNvSpPr>
            <a:spLocks noGrp="1"/>
          </p:cNvSpPr>
          <p:nvPr/>
        </p:nvSpPr>
        <p:spPr>
          <a:xfrm>
            <a:off x="476250" y="666750"/>
            <a:ext cx="8201025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9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9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우리 종중의 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17BCC8-6124-4558-ACE9-4D307B8B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8600" y="1476375"/>
            <a:ext cx="6153150" cy="328650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7653911-01A0-4255-B747-7373C0E2DD42}"/>
              </a:ext>
            </a:extLst>
          </p:cNvPr>
          <p:cNvSpPr>
            <a:spLocks noGrp="1"/>
          </p:cNvSpPr>
          <p:nvPr/>
        </p:nvSpPr>
        <p:spPr>
          <a:xfrm>
            <a:off x="1328928" y="1746631"/>
            <a:ext cx="3952494" cy="248056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3B2395-EE43-409E-A47B-A2CA02F13C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28928" y="1746631"/>
            <a:ext cx="3952494" cy="24805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A1070C-6B7A-4DDC-A398-4DF28C5F7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86525" y="2247900"/>
            <a:ext cx="266700" cy="266700"/>
          </a:xfrm>
          <a:prstGeom prst="rect">
            <a:avLst/>
          </a:prstGeom>
        </p:spPr>
      </p:pic>
      <p:sp>
        <p:nvSpPr>
          <p:cNvPr id="8" name="우리 땅의 경계를 한눈에">
            <a:extLst>
              <a:ext uri="{FF2B5EF4-FFF2-40B4-BE49-F238E27FC236}">
                <a16:creationId xmlns:a16="http://schemas.microsoft.com/office/drawing/2014/main" id="{D0E387D9-871D-4FEB-B0B3-3B77B84C9646}"/>
              </a:ext>
            </a:extLst>
          </p:cNvPr>
          <p:cNvSpPr>
            <a:spLocks noGrp="1"/>
          </p:cNvSpPr>
          <p:nvPr/>
        </p:nvSpPr>
        <p:spPr>
          <a:xfrm>
            <a:off x="6896100" y="2219325"/>
            <a:ext cx="21621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3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463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463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우리 땅의 경계를 한눈에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0F7FE4-FB93-4889-A63A-2376022A9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86525" y="3390900"/>
            <a:ext cx="266700" cy="266700"/>
          </a:xfrm>
          <a:prstGeom prst="rect">
            <a:avLst/>
          </a:prstGeom>
        </p:spPr>
      </p:pic>
      <p:sp>
        <p:nvSpPr>
          <p:cNvPr id="10" name="바뀐 등기, 놓치지 않게">
            <a:extLst>
              <a:ext uri="{FF2B5EF4-FFF2-40B4-BE49-F238E27FC236}">
                <a16:creationId xmlns:a16="http://schemas.microsoft.com/office/drawing/2014/main" id="{7D788115-9E08-4DD2-98C9-C9764F9BDFBA}"/>
              </a:ext>
            </a:extLst>
          </p:cNvPr>
          <p:cNvSpPr>
            <a:spLocks noGrp="1"/>
          </p:cNvSpPr>
          <p:nvPr/>
        </p:nvSpPr>
        <p:spPr>
          <a:xfrm>
            <a:off x="6896100" y="3362325"/>
            <a:ext cx="21621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63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463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463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바뀐 등기, 놓치지 않게</a:t>
            </a:r>
          </a:p>
        </p:txBody>
      </p:sp>
    </p:spTree>
    <p:extLst>
      <p:ext uri="{BB962C8B-B14F-4D97-AF65-F5344CB8AC3E}">
        <p14:creationId xmlns:p14="http://schemas.microsoft.com/office/powerpoint/2010/main" val="1117199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재산과 회계">
            <a:extLst>
              <a:ext uri="{FF2B5EF4-FFF2-40B4-BE49-F238E27FC236}">
                <a16:creationId xmlns:a16="http://schemas.microsoft.com/office/drawing/2014/main" id="{7328BAA5-861B-4F19-B8A9-6F611ED6878F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재산과 회계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7885AA81-AA73-44C1-9FF0-F9AB2915FE80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3" name="우리 가문의 재산, 내가 지킨다">
            <a:extLst>
              <a:ext uri="{FF2B5EF4-FFF2-40B4-BE49-F238E27FC236}">
                <a16:creationId xmlns:a16="http://schemas.microsoft.com/office/drawing/2014/main" id="{45A9372F-B630-4DA2-81AD-7E120DB5F549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5810250" cy="1676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75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우리 가문의 재산,</a:t>
            </a:r>
          </a:p>
          <a:p>
            <a:pPr algn="l">
              <a:defRPr sz="375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내가 지킨다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93421E-1D57-41AD-8167-90C7A5DDF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3362325"/>
            <a:ext cx="266700" cy="266700"/>
          </a:xfrm>
          <a:prstGeom prst="rect">
            <a:avLst/>
          </a:prstGeom>
        </p:spPr>
      </p:pic>
      <p:sp>
        <p:nvSpPr>
          <p:cNvPr id="5" name="재산 현황부터 수입·지출까지">
            <a:extLst>
              <a:ext uri="{FF2B5EF4-FFF2-40B4-BE49-F238E27FC236}">
                <a16:creationId xmlns:a16="http://schemas.microsoft.com/office/drawing/2014/main" id="{EDDDE54C-F497-4430-94C5-A16EE271D382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34480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650" b="1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재산 현황부터 수입·지출까지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BBF7E5-C1A2-4B60-AE23-1C64D5061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2925" y="4038600"/>
            <a:ext cx="266700" cy="266700"/>
          </a:xfrm>
          <a:prstGeom prst="rect">
            <a:avLst/>
          </a:prstGeom>
        </p:spPr>
      </p:pic>
      <p:sp>
        <p:nvSpPr>
          <p:cNvPr id="7" name="증빙과 변경 기록으로 확인">
            <a:extLst>
              <a:ext uri="{FF2B5EF4-FFF2-40B4-BE49-F238E27FC236}">
                <a16:creationId xmlns:a16="http://schemas.microsoft.com/office/drawing/2014/main" id="{8ADE7709-D875-4D7C-8CB2-A533287E4543}"/>
              </a:ext>
            </a:extLst>
          </p:cNvPr>
          <p:cNvSpPr>
            <a:spLocks noGrp="1"/>
          </p:cNvSpPr>
          <p:nvPr/>
        </p:nvSpPr>
        <p:spPr>
          <a:xfrm>
            <a:off x="952500" y="4010025"/>
            <a:ext cx="34480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650" b="1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증빙과 변경 기록으로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B7492E-DC7F-4429-B431-BF3E11B41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305175" y="1362075"/>
            <a:ext cx="5800725" cy="309827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9BA4B13-0094-4F6C-8350-60FD0E4D25EE}"/>
              </a:ext>
            </a:extLst>
          </p:cNvPr>
          <p:cNvSpPr>
            <a:spLocks noGrp="1"/>
          </p:cNvSpPr>
          <p:nvPr/>
        </p:nvSpPr>
        <p:spPr>
          <a:xfrm>
            <a:off x="4342481" y="1616852"/>
            <a:ext cx="3726113" cy="233848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4D8524-75E8-40E4-AF95-7FE56DCED7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342481" y="1616852"/>
            <a:ext cx="3726113" cy="233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법률 근거와 전문가">
            <a:extLst>
              <a:ext uri="{FF2B5EF4-FFF2-40B4-BE49-F238E27FC236}">
                <a16:creationId xmlns:a16="http://schemas.microsoft.com/office/drawing/2014/main" id="{BE215F5D-FAE0-475B-9C47-8A3601068E89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법률 근거와 전문가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6AF5F1DD-001C-4590-8C2D-6AF7A033D19C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ADB9E8-FE8D-436B-BFA2-9FE911706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" y="1343025"/>
            <a:ext cx="5810250" cy="310335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56C22F3-A5E6-4ED2-BC57-9E4FFC85B929}"/>
              </a:ext>
            </a:extLst>
          </p:cNvPr>
          <p:cNvSpPr>
            <a:spLocks noGrp="1"/>
          </p:cNvSpPr>
          <p:nvPr/>
        </p:nvSpPr>
        <p:spPr>
          <a:xfrm>
            <a:off x="1086634" y="1598220"/>
            <a:ext cx="3732231" cy="234232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1545B0-6991-48C0-A783-08AEC49036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86634" y="1598220"/>
            <a:ext cx="3732231" cy="2342328"/>
          </a:xfrm>
          <a:prstGeom prst="rect">
            <a:avLst/>
          </a:prstGeom>
        </p:spPr>
      </p:pic>
      <p:sp>
        <p:nvSpPr>
          <p:cNvPr id="6" name="우리 가문 법률 전문가">
            <a:extLst>
              <a:ext uri="{FF2B5EF4-FFF2-40B4-BE49-F238E27FC236}">
                <a16:creationId xmlns:a16="http://schemas.microsoft.com/office/drawing/2014/main" id="{07E164ED-DECB-43FA-9EBA-6017CA7B5CB9}"/>
              </a:ext>
            </a:extLst>
          </p:cNvPr>
          <p:cNvSpPr>
            <a:spLocks noGrp="1"/>
          </p:cNvSpPr>
          <p:nvPr/>
        </p:nvSpPr>
        <p:spPr>
          <a:xfrm>
            <a:off x="5505450" y="1000125"/>
            <a:ext cx="3533775" cy="1457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5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5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우리 가문</a:t>
            </a:r>
          </a:p>
          <a:p>
            <a:pPr algn="l">
              <a:defRPr sz="35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법률 전문가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2897F1-0103-4A2D-957A-EEED2A400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00750" y="2905125"/>
            <a:ext cx="266700" cy="266700"/>
          </a:xfrm>
          <a:prstGeom prst="rect">
            <a:avLst/>
          </a:prstGeom>
        </p:spPr>
      </p:pic>
      <p:sp>
        <p:nvSpPr>
          <p:cNvPr id="8" name="법령·규약에서 근거를 찾고">
            <a:extLst>
              <a:ext uri="{FF2B5EF4-FFF2-40B4-BE49-F238E27FC236}">
                <a16:creationId xmlns:a16="http://schemas.microsoft.com/office/drawing/2014/main" id="{228507B4-14AC-4FE2-B537-E9C6ED8B0A5A}"/>
              </a:ext>
            </a:extLst>
          </p:cNvPr>
          <p:cNvSpPr>
            <a:spLocks noGrp="1"/>
          </p:cNvSpPr>
          <p:nvPr/>
        </p:nvSpPr>
        <p:spPr>
          <a:xfrm>
            <a:off x="6410325" y="2876550"/>
            <a:ext cx="25241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법령·규약에서 근거를 찾고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2C5F49-834B-42E8-831B-09A197F9BB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00750" y="3533775"/>
            <a:ext cx="266700" cy="266700"/>
          </a:xfrm>
          <a:prstGeom prst="rect">
            <a:avLst/>
          </a:prstGeom>
        </p:spPr>
      </p:pic>
      <p:sp>
        <p:nvSpPr>
          <p:cNvPr id="10" name="상담 전, 쟁점부터 정리">
            <a:extLst>
              <a:ext uri="{FF2B5EF4-FFF2-40B4-BE49-F238E27FC236}">
                <a16:creationId xmlns:a16="http://schemas.microsoft.com/office/drawing/2014/main" id="{EA59E9A6-9622-46A5-B2B6-8B4F2C3943AE}"/>
              </a:ext>
            </a:extLst>
          </p:cNvPr>
          <p:cNvSpPr>
            <a:spLocks noGrp="1"/>
          </p:cNvSpPr>
          <p:nvPr/>
        </p:nvSpPr>
        <p:spPr>
          <a:xfrm>
            <a:off x="6410325" y="3505200"/>
            <a:ext cx="25241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상담 전, 쟁점부터 정리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64E6250-8C83-4DB5-8027-806726EBC9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000750" y="4162425"/>
            <a:ext cx="266700" cy="266700"/>
          </a:xfrm>
          <a:prstGeom prst="rect">
            <a:avLst/>
          </a:prstGeom>
        </p:spPr>
      </p:pic>
      <p:sp>
        <p:nvSpPr>
          <p:cNvPr id="12" name="분야에 맞는 전문가를 찾다">
            <a:extLst>
              <a:ext uri="{FF2B5EF4-FFF2-40B4-BE49-F238E27FC236}">
                <a16:creationId xmlns:a16="http://schemas.microsoft.com/office/drawing/2014/main" id="{628782CD-C4D5-4997-9704-0D5A88948B79}"/>
              </a:ext>
            </a:extLst>
          </p:cNvPr>
          <p:cNvSpPr>
            <a:spLocks noGrp="1"/>
          </p:cNvSpPr>
          <p:nvPr/>
        </p:nvSpPr>
        <p:spPr>
          <a:xfrm>
            <a:off x="6410325" y="4133850"/>
            <a:ext cx="25241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38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분야에 맞는 전문가를 찾다</a:t>
            </a:r>
          </a:p>
        </p:txBody>
      </p:sp>
    </p:spTree>
    <p:extLst>
      <p:ext uri="{BB962C8B-B14F-4D97-AF65-F5344CB8AC3E}">
        <p14:creationId xmlns:p14="http://schemas.microsoft.com/office/powerpoint/2010/main" val="218239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시장 모수">
            <a:extLst>
              <a:ext uri="{FF2B5EF4-FFF2-40B4-BE49-F238E27FC236}">
                <a16:creationId xmlns:a16="http://schemas.microsoft.com/office/drawing/2014/main" id="{6C9730AE-63BA-4027-9744-443DCAD417D4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시장 모수</a:t>
            </a:r>
          </a:p>
        </p:txBody>
      </p:sp>
      <p:sp>
        <p:nvSpPr>
          <p:cNvPr id="2" name="부동산등기용 등록 종중">
            <a:extLst>
              <a:ext uri="{FF2B5EF4-FFF2-40B4-BE49-F238E27FC236}">
                <a16:creationId xmlns:a16="http://schemas.microsoft.com/office/drawing/2014/main" id="{91C7FC3C-7798-462D-8335-FD7FEF1098A5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부동산등기용 등록 종중</a:t>
            </a:r>
          </a:p>
        </p:txBody>
      </p:sp>
      <p:sp>
        <p:nvSpPr>
          <p:cNvPr id="3" name="20">
            <a:extLst>
              <a:ext uri="{FF2B5EF4-FFF2-40B4-BE49-F238E27FC236}">
                <a16:creationId xmlns:a16="http://schemas.microsoft.com/office/drawing/2014/main" id="{7268A48F-894F-4470-BF9B-F0324C080F70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4" name="237,071">
            <a:extLst>
              <a:ext uri="{FF2B5EF4-FFF2-40B4-BE49-F238E27FC236}">
                <a16:creationId xmlns:a16="http://schemas.microsoft.com/office/drawing/2014/main" id="{396B56F2-E55A-43A8-8D16-DE9FEEDDA1EF}"/>
              </a:ext>
            </a:extLst>
          </p:cNvPr>
          <p:cNvSpPr>
            <a:spLocks noGrp="1"/>
          </p:cNvSpPr>
          <p:nvPr/>
        </p:nvSpPr>
        <p:spPr>
          <a:xfrm>
            <a:off x="457200" y="1762125"/>
            <a:ext cx="6057900" cy="1333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8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78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7875" b="1" dirty="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237,071</a:t>
            </a:r>
          </a:p>
        </p:txBody>
      </p:sp>
      <p:sp>
        <p:nvSpPr>
          <p:cNvPr id="5" name="개">
            <a:extLst>
              <a:ext uri="{FF2B5EF4-FFF2-40B4-BE49-F238E27FC236}">
                <a16:creationId xmlns:a16="http://schemas.microsoft.com/office/drawing/2014/main" id="{B18291F5-A0B4-48B8-B500-45482B87BD25}"/>
              </a:ext>
            </a:extLst>
          </p:cNvPr>
          <p:cNvSpPr>
            <a:spLocks noGrp="1"/>
          </p:cNvSpPr>
          <p:nvPr/>
        </p:nvSpPr>
        <p:spPr>
          <a:xfrm>
            <a:off x="5857875" y="2466975"/>
            <a:ext cx="752475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7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6" name="2024년 6월">
            <a:extLst>
              <a:ext uri="{FF2B5EF4-FFF2-40B4-BE49-F238E27FC236}">
                <a16:creationId xmlns:a16="http://schemas.microsoft.com/office/drawing/2014/main" id="{F8527077-F203-415A-93A5-B194642D7BD3}"/>
              </a:ext>
            </a:extLst>
          </p:cNvPr>
          <p:cNvSpPr>
            <a:spLocks noGrp="1"/>
          </p:cNvSpPr>
          <p:nvPr/>
        </p:nvSpPr>
        <p:spPr>
          <a:xfrm>
            <a:off x="523875" y="3124200"/>
            <a:ext cx="5257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4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2024년 6월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64E876-3FE6-404B-8696-BBD73F85A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1975" y="3714750"/>
            <a:ext cx="371475" cy="371475"/>
          </a:xfrm>
          <a:prstGeom prst="rect">
            <a:avLst/>
          </a:prstGeom>
        </p:spPr>
      </p:pic>
      <p:sp>
        <p:nvSpPr>
          <p:cNvPr id="8" name="임야">
            <a:extLst>
              <a:ext uri="{FF2B5EF4-FFF2-40B4-BE49-F238E27FC236}">
                <a16:creationId xmlns:a16="http://schemas.microsoft.com/office/drawing/2014/main" id="{8340B199-21C2-40AC-9489-635E1F2F68FB}"/>
              </a:ext>
            </a:extLst>
          </p:cNvPr>
          <p:cNvSpPr>
            <a:spLocks noGrp="1"/>
          </p:cNvSpPr>
          <p:nvPr/>
        </p:nvSpPr>
        <p:spPr>
          <a:xfrm>
            <a:off x="1114425" y="3724275"/>
            <a:ext cx="126682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임야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7D5FB8-ABEE-4BEB-8033-7C5AA16AC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28900" y="3714750"/>
            <a:ext cx="371475" cy="371475"/>
          </a:xfrm>
          <a:prstGeom prst="rect">
            <a:avLst/>
          </a:prstGeom>
        </p:spPr>
      </p:pic>
      <p:sp>
        <p:nvSpPr>
          <p:cNvPr id="10" name="농지">
            <a:extLst>
              <a:ext uri="{FF2B5EF4-FFF2-40B4-BE49-F238E27FC236}">
                <a16:creationId xmlns:a16="http://schemas.microsoft.com/office/drawing/2014/main" id="{FC5E77D2-3BBF-4FCC-B94E-BC8206E9CDC0}"/>
              </a:ext>
            </a:extLst>
          </p:cNvPr>
          <p:cNvSpPr>
            <a:spLocks noGrp="1"/>
          </p:cNvSpPr>
          <p:nvPr/>
        </p:nvSpPr>
        <p:spPr>
          <a:xfrm>
            <a:off x="3181350" y="3724275"/>
            <a:ext cx="126682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농지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9B02E5-B1C9-427C-95B6-2F0D6FCF1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95825" y="3714750"/>
            <a:ext cx="371475" cy="371475"/>
          </a:xfrm>
          <a:prstGeom prst="rect">
            <a:avLst/>
          </a:prstGeom>
        </p:spPr>
      </p:pic>
      <p:sp>
        <p:nvSpPr>
          <p:cNvPr id="12" name="대지">
            <a:extLst>
              <a:ext uri="{FF2B5EF4-FFF2-40B4-BE49-F238E27FC236}">
                <a16:creationId xmlns:a16="http://schemas.microsoft.com/office/drawing/2014/main" id="{5F536CE6-2F08-4334-857A-62D70262D9C5}"/>
              </a:ext>
            </a:extLst>
          </p:cNvPr>
          <p:cNvSpPr>
            <a:spLocks noGrp="1"/>
          </p:cNvSpPr>
          <p:nvPr/>
        </p:nvSpPr>
        <p:spPr>
          <a:xfrm>
            <a:off x="5248275" y="3724275"/>
            <a:ext cx="126682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대지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83CADC1-0DA3-403C-926E-782AADF6AA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62750" y="3714750"/>
            <a:ext cx="371475" cy="371475"/>
          </a:xfrm>
          <a:prstGeom prst="rect">
            <a:avLst/>
          </a:prstGeom>
        </p:spPr>
      </p:pic>
      <p:sp>
        <p:nvSpPr>
          <p:cNvPr id="14" name="건물">
            <a:extLst>
              <a:ext uri="{FF2B5EF4-FFF2-40B4-BE49-F238E27FC236}">
                <a16:creationId xmlns:a16="http://schemas.microsoft.com/office/drawing/2014/main" id="{B233B425-3832-4178-832A-13088525B796}"/>
              </a:ext>
            </a:extLst>
          </p:cNvPr>
          <p:cNvSpPr>
            <a:spLocks noGrp="1"/>
          </p:cNvSpPr>
          <p:nvPr/>
        </p:nvSpPr>
        <p:spPr>
          <a:xfrm>
            <a:off x="7315200" y="3724275"/>
            <a:ext cx="126682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8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건물</a:t>
            </a:r>
          </a:p>
        </p:txBody>
      </p:sp>
    </p:spTree>
    <p:extLst>
      <p:ext uri="{BB962C8B-B14F-4D97-AF65-F5344CB8AC3E}">
        <p14:creationId xmlns:p14="http://schemas.microsoft.com/office/powerpoint/2010/main" val="1379297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AAA2D-F192-BCCE-CA2A-BE2723EE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연 구독매출 추정">
            <a:extLst>
              <a:ext uri="{FF2B5EF4-FFF2-40B4-BE49-F238E27FC236}">
                <a16:creationId xmlns:a16="http://schemas.microsoft.com/office/drawing/2014/main" id="{ED22F09D-87D5-D45C-9257-6E30F8297539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87568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연 구독매출 추정</a:t>
            </a:r>
          </a:p>
        </p:txBody>
      </p:sp>
      <p:sp>
        <p:nvSpPr>
          <p:cNvPr id="2" name="TAM · SAM · SOM">
            <a:extLst>
              <a:ext uri="{FF2B5EF4-FFF2-40B4-BE49-F238E27FC236}">
                <a16:creationId xmlns:a16="http://schemas.microsoft.com/office/drawing/2014/main" id="{D584AE4B-1B1B-634B-FE59-32BF7F78F210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TAM · SAM · SOM</a:t>
            </a:r>
          </a:p>
        </p:txBody>
      </p:sp>
      <p:sp>
        <p:nvSpPr>
          <p:cNvPr id="3" name="21">
            <a:extLst>
              <a:ext uri="{FF2B5EF4-FFF2-40B4-BE49-F238E27FC236}">
                <a16:creationId xmlns:a16="http://schemas.microsoft.com/office/drawing/2014/main" id="{196316B0-FA03-FF83-1D92-BCCA50BF1553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87568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D9FBB55-6945-3E8E-7841-710C6CA4064E}"/>
              </a:ext>
            </a:extLst>
          </p:cNvPr>
          <p:cNvSpPr>
            <a:spLocks noGrp="1"/>
          </p:cNvSpPr>
          <p:nvPr/>
        </p:nvSpPr>
        <p:spPr>
          <a:xfrm>
            <a:off x="561975" y="1266825"/>
            <a:ext cx="3276600" cy="3276600"/>
          </a:xfrm>
          <a:prstGeom prst="ellipse">
            <a:avLst/>
          </a:prstGeom>
          <a:solidFill>
            <a:srgbClr val="F5F2E9"/>
          </a:solidFill>
          <a:ln w="19050">
            <a:solidFill>
              <a:srgbClr val="183E35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C7D193F-F63F-CC1B-DA18-D66C5FF589F6}"/>
              </a:ext>
            </a:extLst>
          </p:cNvPr>
          <p:cNvSpPr>
            <a:spLocks noGrp="1"/>
          </p:cNvSpPr>
          <p:nvPr/>
        </p:nvSpPr>
        <p:spPr>
          <a:xfrm>
            <a:off x="1104900" y="2352675"/>
            <a:ext cx="2190750" cy="2190750"/>
          </a:xfrm>
          <a:prstGeom prst="ellipse">
            <a:avLst/>
          </a:prstGeom>
          <a:solidFill>
            <a:srgbClr val="F5F2E9"/>
          </a:solidFill>
          <a:ln w="19050">
            <a:solidFill>
              <a:srgbClr val="567D8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43C3972-F3CE-889F-7311-6AFD6AFCEA7D}"/>
              </a:ext>
            </a:extLst>
          </p:cNvPr>
          <p:cNvSpPr>
            <a:spLocks noGrp="1"/>
          </p:cNvSpPr>
          <p:nvPr/>
        </p:nvSpPr>
        <p:spPr>
          <a:xfrm>
            <a:off x="1552575" y="3248025"/>
            <a:ext cx="1295400" cy="1295400"/>
          </a:xfrm>
          <a:prstGeom prst="ellipse">
            <a:avLst/>
          </a:prstGeom>
          <a:solidFill>
            <a:srgbClr val="F5F2E9"/>
          </a:solidFill>
          <a:ln w="19050">
            <a:solidFill>
              <a:srgbClr val="A8543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AM">
            <a:extLst>
              <a:ext uri="{FF2B5EF4-FFF2-40B4-BE49-F238E27FC236}">
                <a16:creationId xmlns:a16="http://schemas.microsoft.com/office/drawing/2014/main" id="{65827E6A-ADC3-A431-D434-6C41FDDD7A6A}"/>
              </a:ext>
            </a:extLst>
          </p:cNvPr>
          <p:cNvSpPr>
            <a:spLocks noGrp="1"/>
          </p:cNvSpPr>
          <p:nvPr/>
        </p:nvSpPr>
        <p:spPr>
          <a:xfrm>
            <a:off x="1400175" y="1438275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TAM</a:t>
            </a:r>
          </a:p>
        </p:txBody>
      </p:sp>
      <p:sp>
        <p:nvSpPr>
          <p:cNvPr id="8" name="등록 종중">
            <a:extLst>
              <a:ext uri="{FF2B5EF4-FFF2-40B4-BE49-F238E27FC236}">
                <a16:creationId xmlns:a16="http://schemas.microsoft.com/office/drawing/2014/main" id="{ED97A1A6-5D5E-CEF8-445F-2504F3870654}"/>
              </a:ext>
            </a:extLst>
          </p:cNvPr>
          <p:cNvSpPr>
            <a:spLocks noGrp="1"/>
          </p:cNvSpPr>
          <p:nvPr/>
        </p:nvSpPr>
        <p:spPr>
          <a:xfrm>
            <a:off x="1028700" y="1914525"/>
            <a:ext cx="23526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등록 종중</a:t>
            </a:r>
          </a:p>
        </p:txBody>
      </p:sp>
      <p:sp>
        <p:nvSpPr>
          <p:cNvPr id="9" name="SAM">
            <a:extLst>
              <a:ext uri="{FF2B5EF4-FFF2-40B4-BE49-F238E27FC236}">
                <a16:creationId xmlns:a16="http://schemas.microsoft.com/office/drawing/2014/main" id="{085CDF4F-25F4-1D1F-1D6B-5E45F80335D0}"/>
              </a:ext>
            </a:extLst>
          </p:cNvPr>
          <p:cNvSpPr>
            <a:spLocks noGrp="1"/>
          </p:cNvSpPr>
          <p:nvPr/>
        </p:nvSpPr>
        <p:spPr>
          <a:xfrm>
            <a:off x="1400175" y="2543175"/>
            <a:ext cx="16002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025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567D89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SAM</a:t>
            </a:r>
          </a:p>
        </p:txBody>
      </p:sp>
      <p:sp>
        <p:nvSpPr>
          <p:cNvPr id="10" name="전담 관리 20% 제외">
            <a:extLst>
              <a:ext uri="{FF2B5EF4-FFF2-40B4-BE49-F238E27FC236}">
                <a16:creationId xmlns:a16="http://schemas.microsoft.com/office/drawing/2014/main" id="{AD52255B-C71D-7333-A395-DDF9525039B6}"/>
              </a:ext>
            </a:extLst>
          </p:cNvPr>
          <p:cNvSpPr>
            <a:spLocks noGrp="1"/>
          </p:cNvSpPr>
          <p:nvPr/>
        </p:nvSpPr>
        <p:spPr>
          <a:xfrm>
            <a:off x="1200150" y="2981325"/>
            <a:ext cx="20288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275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567D89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전담 관리 20% 제외</a:t>
            </a:r>
          </a:p>
        </p:txBody>
      </p:sp>
      <p:sp>
        <p:nvSpPr>
          <p:cNvPr id="11" name="SOM">
            <a:extLst>
              <a:ext uri="{FF2B5EF4-FFF2-40B4-BE49-F238E27FC236}">
                <a16:creationId xmlns:a16="http://schemas.microsoft.com/office/drawing/2014/main" id="{9F7DEA58-D3B2-3895-D9A8-8ED92B719D79}"/>
              </a:ext>
            </a:extLst>
          </p:cNvPr>
          <p:cNvSpPr>
            <a:spLocks noGrp="1"/>
          </p:cNvSpPr>
          <p:nvPr/>
        </p:nvSpPr>
        <p:spPr>
          <a:xfrm>
            <a:off x="1724025" y="3457575"/>
            <a:ext cx="9715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0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A85437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SOM</a:t>
            </a:r>
          </a:p>
        </p:txBody>
      </p:sp>
      <p:sp>
        <p:nvSpPr>
          <p:cNvPr id="12" name="3년 내 1%">
            <a:extLst>
              <a:ext uri="{FF2B5EF4-FFF2-40B4-BE49-F238E27FC236}">
                <a16:creationId xmlns:a16="http://schemas.microsoft.com/office/drawing/2014/main" id="{CF7D362F-C46E-6A73-7EE4-7799AAB6A2F7}"/>
              </a:ext>
            </a:extLst>
          </p:cNvPr>
          <p:cNvSpPr>
            <a:spLocks noGrp="1"/>
          </p:cNvSpPr>
          <p:nvPr/>
        </p:nvSpPr>
        <p:spPr>
          <a:xfrm>
            <a:off x="1609725" y="39624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275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A85437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3년 내 1%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7BE0BC0-8E25-1E87-AE27-FC23F6C4E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63" y="1263072"/>
            <a:ext cx="4055420" cy="325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534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연 구독매출 추정">
            <a:extLst>
              <a:ext uri="{FF2B5EF4-FFF2-40B4-BE49-F238E27FC236}">
                <a16:creationId xmlns:a16="http://schemas.microsoft.com/office/drawing/2014/main" id="{3CA8492D-2B4D-4817-82B2-4379806DBE41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연 구독매출 추정</a:t>
            </a:r>
          </a:p>
        </p:txBody>
      </p:sp>
      <p:sp>
        <p:nvSpPr>
          <p:cNvPr id="2" name="TAM · SAM · SOM">
            <a:extLst>
              <a:ext uri="{FF2B5EF4-FFF2-40B4-BE49-F238E27FC236}">
                <a16:creationId xmlns:a16="http://schemas.microsoft.com/office/drawing/2014/main" id="{895CCC3F-8E0A-4594-AD5F-2977752683E6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TAM · SAM · SOM</a:t>
            </a:r>
          </a:p>
        </p:txBody>
      </p:sp>
      <p:sp>
        <p:nvSpPr>
          <p:cNvPr id="3" name="21">
            <a:extLst>
              <a:ext uri="{FF2B5EF4-FFF2-40B4-BE49-F238E27FC236}">
                <a16:creationId xmlns:a16="http://schemas.microsoft.com/office/drawing/2014/main" id="{30292AC3-F203-4627-93F0-A4D7B54B2F2D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53F878E-4927-4EBE-9559-CCFBF56787B0}"/>
              </a:ext>
            </a:extLst>
          </p:cNvPr>
          <p:cNvSpPr>
            <a:spLocks noGrp="1"/>
          </p:cNvSpPr>
          <p:nvPr/>
        </p:nvSpPr>
        <p:spPr>
          <a:xfrm>
            <a:off x="561975" y="1266825"/>
            <a:ext cx="3276600" cy="3276600"/>
          </a:xfrm>
          <a:prstGeom prst="ellipse">
            <a:avLst/>
          </a:prstGeom>
          <a:solidFill>
            <a:srgbClr val="F5F2E9"/>
          </a:solidFill>
          <a:ln w="19050">
            <a:solidFill>
              <a:srgbClr val="183E3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9279E8-020F-4889-AFE4-3B45298E9C1B}"/>
              </a:ext>
            </a:extLst>
          </p:cNvPr>
          <p:cNvSpPr>
            <a:spLocks noGrp="1"/>
          </p:cNvSpPr>
          <p:nvPr/>
        </p:nvSpPr>
        <p:spPr>
          <a:xfrm>
            <a:off x="1104900" y="2352675"/>
            <a:ext cx="2190750" cy="2190750"/>
          </a:xfrm>
          <a:prstGeom prst="ellipse">
            <a:avLst/>
          </a:prstGeom>
          <a:solidFill>
            <a:srgbClr val="F5F2E9"/>
          </a:solidFill>
          <a:ln w="19050">
            <a:solidFill>
              <a:srgbClr val="567D8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57B3934-A685-48BE-B5BC-AAB97AC98478}"/>
              </a:ext>
            </a:extLst>
          </p:cNvPr>
          <p:cNvSpPr>
            <a:spLocks noGrp="1"/>
          </p:cNvSpPr>
          <p:nvPr/>
        </p:nvSpPr>
        <p:spPr>
          <a:xfrm>
            <a:off x="1552575" y="3248025"/>
            <a:ext cx="1295400" cy="1295400"/>
          </a:xfrm>
          <a:prstGeom prst="ellipse">
            <a:avLst/>
          </a:prstGeom>
          <a:solidFill>
            <a:srgbClr val="F5F2E9"/>
          </a:solidFill>
          <a:ln w="19050">
            <a:solidFill>
              <a:srgbClr val="A8543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AM">
            <a:extLst>
              <a:ext uri="{FF2B5EF4-FFF2-40B4-BE49-F238E27FC236}">
                <a16:creationId xmlns:a16="http://schemas.microsoft.com/office/drawing/2014/main" id="{7D2DF2D7-07E9-4924-AF7F-35466FC0E8A7}"/>
              </a:ext>
            </a:extLst>
          </p:cNvPr>
          <p:cNvSpPr>
            <a:spLocks noGrp="1"/>
          </p:cNvSpPr>
          <p:nvPr/>
        </p:nvSpPr>
        <p:spPr>
          <a:xfrm>
            <a:off x="1400175" y="1438275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100" b="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TAM</a:t>
            </a:r>
          </a:p>
        </p:txBody>
      </p:sp>
      <p:sp>
        <p:nvSpPr>
          <p:cNvPr id="8" name="등록 종중">
            <a:extLst>
              <a:ext uri="{FF2B5EF4-FFF2-40B4-BE49-F238E27FC236}">
                <a16:creationId xmlns:a16="http://schemas.microsoft.com/office/drawing/2014/main" id="{00BCC5DE-EE0B-4539-97DE-D30C076811CD}"/>
              </a:ext>
            </a:extLst>
          </p:cNvPr>
          <p:cNvSpPr>
            <a:spLocks noGrp="1"/>
          </p:cNvSpPr>
          <p:nvPr/>
        </p:nvSpPr>
        <p:spPr>
          <a:xfrm>
            <a:off x="1028700" y="1914525"/>
            <a:ext cx="23526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7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575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등록 종중</a:t>
            </a:r>
          </a:p>
        </p:txBody>
      </p:sp>
      <p:sp>
        <p:nvSpPr>
          <p:cNvPr id="9" name="SAM">
            <a:extLst>
              <a:ext uri="{FF2B5EF4-FFF2-40B4-BE49-F238E27FC236}">
                <a16:creationId xmlns:a16="http://schemas.microsoft.com/office/drawing/2014/main" id="{65EE8F1B-4546-42E2-B9E8-4EC94CF76698}"/>
              </a:ext>
            </a:extLst>
          </p:cNvPr>
          <p:cNvSpPr>
            <a:spLocks noGrp="1"/>
          </p:cNvSpPr>
          <p:nvPr/>
        </p:nvSpPr>
        <p:spPr>
          <a:xfrm>
            <a:off x="1400175" y="2543175"/>
            <a:ext cx="16002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025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025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SAM</a:t>
            </a:r>
          </a:p>
        </p:txBody>
      </p:sp>
      <p:sp>
        <p:nvSpPr>
          <p:cNvPr id="10" name="전담 관리 20% 제외">
            <a:extLst>
              <a:ext uri="{FF2B5EF4-FFF2-40B4-BE49-F238E27FC236}">
                <a16:creationId xmlns:a16="http://schemas.microsoft.com/office/drawing/2014/main" id="{2C79A9E6-A9C0-4115-9925-DAA2DC7E00CF}"/>
              </a:ext>
            </a:extLst>
          </p:cNvPr>
          <p:cNvSpPr>
            <a:spLocks noGrp="1"/>
          </p:cNvSpPr>
          <p:nvPr/>
        </p:nvSpPr>
        <p:spPr>
          <a:xfrm>
            <a:off x="1200150" y="2981325"/>
            <a:ext cx="20288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275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275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275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전담 관리 20% 제외</a:t>
            </a:r>
          </a:p>
        </p:txBody>
      </p:sp>
      <p:sp>
        <p:nvSpPr>
          <p:cNvPr id="11" name="SOM">
            <a:extLst>
              <a:ext uri="{FF2B5EF4-FFF2-40B4-BE49-F238E27FC236}">
                <a16:creationId xmlns:a16="http://schemas.microsoft.com/office/drawing/2014/main" id="{1DC72EB0-F264-45DA-A4BC-ABDB1844CD21}"/>
              </a:ext>
            </a:extLst>
          </p:cNvPr>
          <p:cNvSpPr>
            <a:spLocks noGrp="1"/>
          </p:cNvSpPr>
          <p:nvPr/>
        </p:nvSpPr>
        <p:spPr>
          <a:xfrm>
            <a:off x="1724025" y="3457575"/>
            <a:ext cx="9715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0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75" b="0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A85437"/>
                </a:solidFill>
                <a:latin typeface="Pretendard"/>
                <a:ea typeface="Pretendard"/>
                <a:cs typeface="Pretendard"/>
              </a:rPr>
              <a:t>SOM</a:t>
            </a:r>
          </a:p>
        </p:txBody>
      </p:sp>
      <p:sp>
        <p:nvSpPr>
          <p:cNvPr id="12" name="3년 내 1%">
            <a:extLst>
              <a:ext uri="{FF2B5EF4-FFF2-40B4-BE49-F238E27FC236}">
                <a16:creationId xmlns:a16="http://schemas.microsoft.com/office/drawing/2014/main" id="{1330ABED-C936-4195-989D-B1B6110EC6EF}"/>
              </a:ext>
            </a:extLst>
          </p:cNvPr>
          <p:cNvSpPr>
            <a:spLocks noGrp="1"/>
          </p:cNvSpPr>
          <p:nvPr/>
        </p:nvSpPr>
        <p:spPr>
          <a:xfrm>
            <a:off x="1609725" y="39624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275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275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pPr>
            <a:r>
              <a:rPr sz="1275">
                <a:solidFill>
                  <a:srgbClr val="A85437"/>
                </a:solidFill>
                <a:latin typeface="Pretendard"/>
                <a:ea typeface="Pretendard"/>
                <a:cs typeface="Pretendard"/>
              </a:rPr>
              <a:t>3년 내 1%</a:t>
            </a:r>
          </a:p>
        </p:txBody>
      </p:sp>
      <p:sp>
        <p:nvSpPr>
          <p:cNvPr id="13" name="연 50만원 가정">
            <a:extLst>
              <a:ext uri="{FF2B5EF4-FFF2-40B4-BE49-F238E27FC236}">
                <a16:creationId xmlns:a16="http://schemas.microsoft.com/office/drawing/2014/main" id="{9EA9DB7F-CB86-4A09-95AC-ADE85B8C68D4}"/>
              </a:ext>
            </a:extLst>
          </p:cNvPr>
          <p:cNvSpPr>
            <a:spLocks noGrp="1"/>
          </p:cNvSpPr>
          <p:nvPr/>
        </p:nvSpPr>
        <p:spPr>
          <a:xfrm>
            <a:off x="6286500" y="895350"/>
            <a:ext cx="24574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13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연 50만원 가정</a:t>
            </a:r>
          </a:p>
        </p:txBody>
      </p:sp>
      <p:sp>
        <p:nvSpPr>
          <p:cNvPr id="14" name="1,185.36">
            <a:extLst>
              <a:ext uri="{FF2B5EF4-FFF2-40B4-BE49-F238E27FC236}">
                <a16:creationId xmlns:a16="http://schemas.microsoft.com/office/drawing/2014/main" id="{3DDB80EC-F318-4351-A125-484E63B9A7DF}"/>
              </a:ext>
            </a:extLst>
          </p:cNvPr>
          <p:cNvSpPr>
            <a:spLocks noGrp="1"/>
          </p:cNvSpPr>
          <p:nvPr/>
        </p:nvSpPr>
        <p:spPr>
          <a:xfrm>
            <a:off x="4648200" y="1381125"/>
            <a:ext cx="2971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42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1,185.36</a:t>
            </a:r>
          </a:p>
        </p:txBody>
      </p:sp>
      <p:sp>
        <p:nvSpPr>
          <p:cNvPr id="15" name="억원 / 년">
            <a:extLst>
              <a:ext uri="{FF2B5EF4-FFF2-40B4-BE49-F238E27FC236}">
                <a16:creationId xmlns:a16="http://schemas.microsoft.com/office/drawing/2014/main" id="{5B056747-9C54-4C91-B561-5435A1480FE2}"/>
              </a:ext>
            </a:extLst>
          </p:cNvPr>
          <p:cNvSpPr>
            <a:spLocks noGrp="1"/>
          </p:cNvSpPr>
          <p:nvPr/>
        </p:nvSpPr>
        <p:spPr>
          <a:xfrm>
            <a:off x="7553325" y="1685925"/>
            <a:ext cx="12668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억원 / 년</a:t>
            </a:r>
          </a:p>
        </p:txBody>
      </p:sp>
      <p:sp>
        <p:nvSpPr>
          <p:cNvPr id="16" name="237,071개">
            <a:extLst>
              <a:ext uri="{FF2B5EF4-FFF2-40B4-BE49-F238E27FC236}">
                <a16:creationId xmlns:a16="http://schemas.microsoft.com/office/drawing/2014/main" id="{CFDF112B-8243-4C5A-8F60-3120C27096D0}"/>
              </a:ext>
            </a:extLst>
          </p:cNvPr>
          <p:cNvSpPr>
            <a:spLocks noGrp="1"/>
          </p:cNvSpPr>
          <p:nvPr/>
        </p:nvSpPr>
        <p:spPr>
          <a:xfrm>
            <a:off x="4695825" y="2133600"/>
            <a:ext cx="3895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237,071개</a:t>
            </a:r>
          </a:p>
        </p:txBody>
      </p:sp>
      <p:sp>
        <p:nvSpPr>
          <p:cNvPr id="17" name="948.29">
            <a:extLst>
              <a:ext uri="{FF2B5EF4-FFF2-40B4-BE49-F238E27FC236}">
                <a16:creationId xmlns:a16="http://schemas.microsoft.com/office/drawing/2014/main" id="{B1A1F418-8E57-44F4-9752-5B4033D54359}"/>
              </a:ext>
            </a:extLst>
          </p:cNvPr>
          <p:cNvSpPr>
            <a:spLocks noGrp="1"/>
          </p:cNvSpPr>
          <p:nvPr/>
        </p:nvSpPr>
        <p:spPr>
          <a:xfrm>
            <a:off x="4648200" y="2543175"/>
            <a:ext cx="2971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2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4275" b="1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4275" b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948.29</a:t>
            </a:r>
          </a:p>
        </p:txBody>
      </p:sp>
      <p:sp>
        <p:nvSpPr>
          <p:cNvPr id="18" name="억원 / 년">
            <a:extLst>
              <a:ext uri="{FF2B5EF4-FFF2-40B4-BE49-F238E27FC236}">
                <a16:creationId xmlns:a16="http://schemas.microsoft.com/office/drawing/2014/main" id="{916427CA-C8BC-4403-928C-2399723EDAA0}"/>
              </a:ext>
            </a:extLst>
          </p:cNvPr>
          <p:cNvSpPr>
            <a:spLocks noGrp="1"/>
          </p:cNvSpPr>
          <p:nvPr/>
        </p:nvSpPr>
        <p:spPr>
          <a:xfrm>
            <a:off x="7553325" y="2847975"/>
            <a:ext cx="12668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억원 / 년</a:t>
            </a:r>
          </a:p>
        </p:txBody>
      </p:sp>
      <p:sp>
        <p:nvSpPr>
          <p:cNvPr id="19" name="189,657개">
            <a:extLst>
              <a:ext uri="{FF2B5EF4-FFF2-40B4-BE49-F238E27FC236}">
                <a16:creationId xmlns:a16="http://schemas.microsoft.com/office/drawing/2014/main" id="{CD082E8C-7F33-4D06-8BEE-9DD1BCE60346}"/>
              </a:ext>
            </a:extLst>
          </p:cNvPr>
          <p:cNvSpPr>
            <a:spLocks noGrp="1"/>
          </p:cNvSpPr>
          <p:nvPr/>
        </p:nvSpPr>
        <p:spPr>
          <a:xfrm>
            <a:off x="4695825" y="3295650"/>
            <a:ext cx="3895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189,657개</a:t>
            </a:r>
          </a:p>
        </p:txBody>
      </p:sp>
      <p:sp>
        <p:nvSpPr>
          <p:cNvPr id="20" name="9.49">
            <a:extLst>
              <a:ext uri="{FF2B5EF4-FFF2-40B4-BE49-F238E27FC236}">
                <a16:creationId xmlns:a16="http://schemas.microsoft.com/office/drawing/2014/main" id="{2850529B-0DD9-4635-B790-B1F6821145CD}"/>
              </a:ext>
            </a:extLst>
          </p:cNvPr>
          <p:cNvSpPr>
            <a:spLocks noGrp="1"/>
          </p:cNvSpPr>
          <p:nvPr/>
        </p:nvSpPr>
        <p:spPr>
          <a:xfrm>
            <a:off x="4648200" y="3705225"/>
            <a:ext cx="2971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275" b="1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4275" b="1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pPr>
            <a:r>
              <a:rPr sz="4275" b="1">
                <a:solidFill>
                  <a:srgbClr val="A85437"/>
                </a:solidFill>
                <a:latin typeface="Pretendard"/>
                <a:ea typeface="Pretendard"/>
                <a:cs typeface="Pretendard"/>
              </a:rPr>
              <a:t>9.49</a:t>
            </a:r>
          </a:p>
        </p:txBody>
      </p:sp>
      <p:sp>
        <p:nvSpPr>
          <p:cNvPr id="21" name="억원 / 년">
            <a:extLst>
              <a:ext uri="{FF2B5EF4-FFF2-40B4-BE49-F238E27FC236}">
                <a16:creationId xmlns:a16="http://schemas.microsoft.com/office/drawing/2014/main" id="{B7B40717-2606-4E8C-84EE-EB242BEE4A50}"/>
              </a:ext>
            </a:extLst>
          </p:cNvPr>
          <p:cNvSpPr>
            <a:spLocks noGrp="1"/>
          </p:cNvSpPr>
          <p:nvPr/>
        </p:nvSpPr>
        <p:spPr>
          <a:xfrm>
            <a:off x="7553325" y="4010025"/>
            <a:ext cx="12668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>
                <a:solidFill>
                  <a:srgbClr val="A85437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A85437"/>
                </a:solidFill>
                <a:latin typeface="Pretendard"/>
                <a:ea typeface="Pretendard"/>
                <a:cs typeface="Pretendard"/>
              </a:rPr>
              <a:t>억원 / 년</a:t>
            </a:r>
          </a:p>
        </p:txBody>
      </p:sp>
      <p:sp>
        <p:nvSpPr>
          <p:cNvPr id="22" name="1,897개">
            <a:extLst>
              <a:ext uri="{FF2B5EF4-FFF2-40B4-BE49-F238E27FC236}">
                <a16:creationId xmlns:a16="http://schemas.microsoft.com/office/drawing/2014/main" id="{C2DD7E6C-3112-488D-977F-F12B3F9A97F7}"/>
              </a:ext>
            </a:extLst>
          </p:cNvPr>
          <p:cNvSpPr>
            <a:spLocks noGrp="1"/>
          </p:cNvSpPr>
          <p:nvPr/>
        </p:nvSpPr>
        <p:spPr>
          <a:xfrm>
            <a:off x="4695825" y="4457700"/>
            <a:ext cx="3895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1,897개</a:t>
            </a:r>
          </a:p>
        </p:txBody>
      </p:sp>
    </p:spTree>
    <p:extLst>
      <p:ext uri="{BB962C8B-B14F-4D97-AF65-F5344CB8AC3E}">
        <p14:creationId xmlns:p14="http://schemas.microsoft.com/office/powerpoint/2010/main" val="1622999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연 50만원 기준">
            <a:extLst>
              <a:ext uri="{FF2B5EF4-FFF2-40B4-BE49-F238E27FC236}">
                <a16:creationId xmlns:a16="http://schemas.microsoft.com/office/drawing/2014/main" id="{4CE6343B-EC52-4587-884B-E9EE2CE4697E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연 50만원 기준</a:t>
            </a:r>
          </a:p>
        </p:txBody>
      </p:sp>
      <p:sp>
        <p:nvSpPr>
          <p:cNvPr id="2" name="3년 내 확보율별 매출 추정">
            <a:extLst>
              <a:ext uri="{FF2B5EF4-FFF2-40B4-BE49-F238E27FC236}">
                <a16:creationId xmlns:a16="http://schemas.microsoft.com/office/drawing/2014/main" id="{91A5292B-66A4-444E-AA27-EDEF22DF67C5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3년 내 확보율별 매출 추정</a:t>
            </a:r>
          </a:p>
        </p:txBody>
      </p:sp>
      <p:sp>
        <p:nvSpPr>
          <p:cNvPr id="3" name="22">
            <a:extLst>
              <a:ext uri="{FF2B5EF4-FFF2-40B4-BE49-F238E27FC236}">
                <a16:creationId xmlns:a16="http://schemas.microsoft.com/office/drawing/2014/main" id="{96F93E46-8334-4796-9A97-609347098F5F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4A528DF-6A43-4DC5-B1FD-D571DC014F6C}"/>
              </a:ext>
            </a:extLst>
          </p:cNvPr>
          <p:cNvGraphicFramePr/>
          <p:nvPr/>
        </p:nvGraphicFramePr>
        <p:xfrm>
          <a:off x="619125" y="1504950"/>
          <a:ext cx="78867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55816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354C454-79DA-478B-8D50-48A503E34B68}"/>
              </a:ext>
            </a:extLst>
          </p:cNvPr>
          <p:cNvCxnSpPr>
            <a:stCxn id="3" idx="2"/>
            <a:endCxn id="9" idx="6"/>
          </p:cNvCxnSpPr>
          <p:nvPr/>
        </p:nvCxnSpPr>
        <p:spPr>
          <a:xfrm flipH="1">
            <a:off x="2038350" y="3000375"/>
            <a:ext cx="1828800" cy="85725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E636C4F-5C2A-43B3-A523-C5A8EF889561}"/>
              </a:ext>
            </a:extLst>
          </p:cNvPr>
          <p:cNvCxnSpPr>
            <a:stCxn id="3" idx="3"/>
            <a:endCxn id="8" idx="7"/>
          </p:cNvCxnSpPr>
          <p:nvPr/>
        </p:nvCxnSpPr>
        <p:spPr>
          <a:xfrm flipH="1">
            <a:off x="3315773" y="3498779"/>
            <a:ext cx="757822" cy="472072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FCDC6A6-F070-4589-9C3B-35E923819548}"/>
              </a:ext>
            </a:extLst>
          </p:cNvPr>
          <p:cNvCxnSpPr>
            <a:stCxn id="3" idx="5"/>
            <a:endCxn id="7" idx="1"/>
          </p:cNvCxnSpPr>
          <p:nvPr/>
        </p:nvCxnSpPr>
        <p:spPr>
          <a:xfrm>
            <a:off x="5070404" y="3498779"/>
            <a:ext cx="757822" cy="472072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A57A9AA-23FB-4B2B-94DD-0658D92CEE87}"/>
              </a:ext>
            </a:extLst>
          </p:cNvPr>
          <p:cNvCxnSpPr>
            <a:stCxn id="3" idx="6"/>
            <a:endCxn id="6" idx="2"/>
          </p:cNvCxnSpPr>
          <p:nvPr/>
        </p:nvCxnSpPr>
        <p:spPr>
          <a:xfrm>
            <a:off x="5276850" y="3000375"/>
            <a:ext cx="1828800" cy="85725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9CD928C-6902-4DAC-93BD-5898A39C4078}"/>
              </a:ext>
            </a:extLst>
          </p:cNvPr>
          <p:cNvCxnSpPr>
            <a:stCxn id="3" idx="7"/>
            <a:endCxn id="5" idx="3"/>
          </p:cNvCxnSpPr>
          <p:nvPr/>
        </p:nvCxnSpPr>
        <p:spPr>
          <a:xfrm flipV="1">
            <a:off x="5070404" y="2067998"/>
            <a:ext cx="1053097" cy="433972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31B5723-D0F3-44EE-8028-14AB294F293C}"/>
              </a:ext>
            </a:extLst>
          </p:cNvPr>
          <p:cNvCxnSpPr>
            <a:stCxn id="3" idx="1"/>
            <a:endCxn id="4" idx="5"/>
          </p:cNvCxnSpPr>
          <p:nvPr/>
        </p:nvCxnSpPr>
        <p:spPr>
          <a:xfrm flipH="1" flipV="1">
            <a:off x="3020498" y="2067998"/>
            <a:ext cx="1053097" cy="433972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sp>
        <p:nvSpPr>
          <p:cNvPr id="30" name="Codex 활용">
            <a:extLst>
              <a:ext uri="{FF2B5EF4-FFF2-40B4-BE49-F238E27FC236}">
                <a16:creationId xmlns:a16="http://schemas.microsoft.com/office/drawing/2014/main" id="{D3A50736-CC0C-414F-9A44-D23552403DCE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Codex 활용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5D2C797F-50EB-448B-AB76-EE6A4C796909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A4C8EEE-2FA4-4E04-8918-F857692AC85B}"/>
              </a:ext>
            </a:extLst>
          </p:cNvPr>
          <p:cNvSpPr>
            <a:spLocks noGrp="1"/>
          </p:cNvSpPr>
          <p:nvPr/>
        </p:nvSpPr>
        <p:spPr>
          <a:xfrm>
            <a:off x="3867150" y="2295525"/>
            <a:ext cx="1409700" cy="1409700"/>
          </a:xfrm>
          <a:prstGeom prst="ellipse">
            <a:avLst/>
          </a:prstGeom>
          <a:solidFill>
            <a:srgbClr val="183E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C673437-CD1D-43CF-8569-A451E52FE258}"/>
              </a:ext>
            </a:extLst>
          </p:cNvPr>
          <p:cNvSpPr>
            <a:spLocks noGrp="1"/>
          </p:cNvSpPr>
          <p:nvPr/>
        </p:nvSpPr>
        <p:spPr>
          <a:xfrm>
            <a:off x="2305050" y="135255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F280D7D-6648-4B0D-8D90-AA086182F247}"/>
              </a:ext>
            </a:extLst>
          </p:cNvPr>
          <p:cNvSpPr>
            <a:spLocks noGrp="1"/>
          </p:cNvSpPr>
          <p:nvPr/>
        </p:nvSpPr>
        <p:spPr>
          <a:xfrm>
            <a:off x="6000750" y="135255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8001E1B-F2D2-449C-B89C-87A68A3F5180}"/>
              </a:ext>
            </a:extLst>
          </p:cNvPr>
          <p:cNvSpPr>
            <a:spLocks noGrp="1"/>
          </p:cNvSpPr>
          <p:nvPr/>
        </p:nvSpPr>
        <p:spPr>
          <a:xfrm>
            <a:off x="7105650" y="266700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C116C79-859A-4F79-9938-60EF561CC104}"/>
              </a:ext>
            </a:extLst>
          </p:cNvPr>
          <p:cNvSpPr>
            <a:spLocks noGrp="1"/>
          </p:cNvSpPr>
          <p:nvPr/>
        </p:nvSpPr>
        <p:spPr>
          <a:xfrm>
            <a:off x="5705475" y="384810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5B9A889-0C6A-4D94-B190-F4FD35419442}"/>
              </a:ext>
            </a:extLst>
          </p:cNvPr>
          <p:cNvSpPr>
            <a:spLocks noGrp="1"/>
          </p:cNvSpPr>
          <p:nvPr/>
        </p:nvSpPr>
        <p:spPr>
          <a:xfrm>
            <a:off x="2600325" y="384810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EC19DD7-A99B-406A-97F8-248B0E713131}"/>
              </a:ext>
            </a:extLst>
          </p:cNvPr>
          <p:cNvSpPr>
            <a:spLocks noGrp="1"/>
          </p:cNvSpPr>
          <p:nvPr/>
        </p:nvSpPr>
        <p:spPr>
          <a:xfrm>
            <a:off x="1200150" y="266700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9332C6F-2498-424C-89C7-63223F05D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24350" y="2486025"/>
            <a:ext cx="495300" cy="495300"/>
          </a:xfrm>
          <a:prstGeom prst="rect">
            <a:avLst/>
          </a:prstGeom>
        </p:spPr>
      </p:pic>
      <p:sp>
        <p:nvSpPr>
          <p:cNvPr id="17" name="Codex">
            <a:extLst>
              <a:ext uri="{FF2B5EF4-FFF2-40B4-BE49-F238E27FC236}">
                <a16:creationId xmlns:a16="http://schemas.microsoft.com/office/drawing/2014/main" id="{5A7F8183-0540-4C78-B528-9B67A5FB932C}"/>
              </a:ext>
            </a:extLst>
          </p:cNvPr>
          <p:cNvSpPr>
            <a:spLocks noGrp="1"/>
          </p:cNvSpPr>
          <p:nvPr/>
        </p:nvSpPr>
        <p:spPr>
          <a:xfrm>
            <a:off x="3981450" y="3143250"/>
            <a:ext cx="11811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32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32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Codex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D106812-1E28-400D-BE26-E8A8867AD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00313" y="1547813"/>
            <a:ext cx="447675" cy="447675"/>
          </a:xfrm>
          <a:prstGeom prst="rect">
            <a:avLst/>
          </a:prstGeom>
        </p:spPr>
      </p:pic>
      <p:sp>
        <p:nvSpPr>
          <p:cNvPr id="19" name="PRD">
            <a:extLst>
              <a:ext uri="{FF2B5EF4-FFF2-40B4-BE49-F238E27FC236}">
                <a16:creationId xmlns:a16="http://schemas.microsoft.com/office/drawing/2014/main" id="{8FCA8F6F-BB88-47AE-982E-E09BBA45387E}"/>
              </a:ext>
            </a:extLst>
          </p:cNvPr>
          <p:cNvSpPr>
            <a:spLocks noGrp="1"/>
          </p:cNvSpPr>
          <p:nvPr/>
        </p:nvSpPr>
        <p:spPr>
          <a:xfrm>
            <a:off x="1866900" y="22574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PRD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21415EC-13A9-4ACB-9474-6C61511EF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96013" y="1547813"/>
            <a:ext cx="447675" cy="447675"/>
          </a:xfrm>
          <a:prstGeom prst="rect">
            <a:avLst/>
          </a:prstGeom>
        </p:spPr>
      </p:pic>
      <p:sp>
        <p:nvSpPr>
          <p:cNvPr id="21" name="페르소나">
            <a:extLst>
              <a:ext uri="{FF2B5EF4-FFF2-40B4-BE49-F238E27FC236}">
                <a16:creationId xmlns:a16="http://schemas.microsoft.com/office/drawing/2014/main" id="{22002FE9-9CA4-4341-9743-9A2F7FA733B9}"/>
              </a:ext>
            </a:extLst>
          </p:cNvPr>
          <p:cNvSpPr>
            <a:spLocks noGrp="1"/>
          </p:cNvSpPr>
          <p:nvPr/>
        </p:nvSpPr>
        <p:spPr>
          <a:xfrm>
            <a:off x="5562600" y="22574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페르소나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C67871D-00E1-45B3-ADF0-E51285B0D3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300913" y="2862263"/>
            <a:ext cx="447675" cy="447675"/>
          </a:xfrm>
          <a:prstGeom prst="rect">
            <a:avLst/>
          </a:prstGeom>
        </p:spPr>
      </p:pic>
      <p:sp>
        <p:nvSpPr>
          <p:cNvPr id="23" name="UI · 코드 · 배포">
            <a:extLst>
              <a:ext uri="{FF2B5EF4-FFF2-40B4-BE49-F238E27FC236}">
                <a16:creationId xmlns:a16="http://schemas.microsoft.com/office/drawing/2014/main" id="{DB03EE81-2E84-48C1-8D8E-58DA13B691C7}"/>
              </a:ext>
            </a:extLst>
          </p:cNvPr>
          <p:cNvSpPr>
            <a:spLocks noGrp="1"/>
          </p:cNvSpPr>
          <p:nvPr/>
        </p:nvSpPr>
        <p:spPr>
          <a:xfrm>
            <a:off x="6505575" y="3619500"/>
            <a:ext cx="2047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UI · 코드 · 배포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4FCF391-0EA6-4351-8A33-362D678E87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900738" y="4043363"/>
            <a:ext cx="447675" cy="447675"/>
          </a:xfrm>
          <a:prstGeom prst="rect">
            <a:avLst/>
          </a:prstGeom>
        </p:spPr>
      </p:pic>
      <p:sp>
        <p:nvSpPr>
          <p:cNvPr id="25" name="테스트 · UI 검수">
            <a:extLst>
              <a:ext uri="{FF2B5EF4-FFF2-40B4-BE49-F238E27FC236}">
                <a16:creationId xmlns:a16="http://schemas.microsoft.com/office/drawing/2014/main" id="{AC442D7C-BE44-4483-932A-FCF79AED2203}"/>
              </a:ext>
            </a:extLst>
          </p:cNvPr>
          <p:cNvSpPr>
            <a:spLocks noGrp="1"/>
          </p:cNvSpPr>
          <p:nvPr/>
        </p:nvSpPr>
        <p:spPr>
          <a:xfrm>
            <a:off x="5000625" y="4733925"/>
            <a:ext cx="22574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테스트 · UI 검수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56A2950-270B-4307-8F25-38D465FE71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795588" y="4043363"/>
            <a:ext cx="447675" cy="447675"/>
          </a:xfrm>
          <a:prstGeom prst="rect">
            <a:avLst/>
          </a:prstGeom>
        </p:spPr>
      </p:pic>
      <p:sp>
        <p:nvSpPr>
          <p:cNvPr id="27" name="법령 · 판례 · 필지">
            <a:extLst>
              <a:ext uri="{FF2B5EF4-FFF2-40B4-BE49-F238E27FC236}">
                <a16:creationId xmlns:a16="http://schemas.microsoft.com/office/drawing/2014/main" id="{6B7FF573-BD5F-45AA-99B3-B2D036DF7C7F}"/>
              </a:ext>
            </a:extLst>
          </p:cNvPr>
          <p:cNvSpPr>
            <a:spLocks noGrp="1"/>
          </p:cNvSpPr>
          <p:nvPr/>
        </p:nvSpPr>
        <p:spPr>
          <a:xfrm>
            <a:off x="1857375" y="4733925"/>
            <a:ext cx="2324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법령 · 판례 · 필지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6D84E2F-1684-4A14-97DD-51C3B6FAFC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395413" y="2862263"/>
            <a:ext cx="447675" cy="447675"/>
          </a:xfrm>
          <a:prstGeom prst="rect">
            <a:avLst/>
          </a:prstGeom>
        </p:spPr>
      </p:pic>
      <p:sp>
        <p:nvSpPr>
          <p:cNvPr id="29" name="통화 전사">
            <a:extLst>
              <a:ext uri="{FF2B5EF4-FFF2-40B4-BE49-F238E27FC236}">
                <a16:creationId xmlns:a16="http://schemas.microsoft.com/office/drawing/2014/main" id="{C4A43CF2-E891-4F32-9B58-702E03A8EB85}"/>
              </a:ext>
            </a:extLst>
          </p:cNvPr>
          <p:cNvSpPr>
            <a:spLocks noGrp="1"/>
          </p:cNvSpPr>
          <p:nvPr/>
        </p:nvSpPr>
        <p:spPr>
          <a:xfrm>
            <a:off x="752475" y="3619500"/>
            <a:ext cx="1752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통화 전사</a:t>
            </a:r>
          </a:p>
        </p:txBody>
      </p:sp>
    </p:spTree>
    <p:extLst>
      <p:ext uri="{BB962C8B-B14F-4D97-AF65-F5344CB8AC3E}">
        <p14:creationId xmlns:p14="http://schemas.microsoft.com/office/powerpoint/2010/main" val="295234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785FF-0190-D90A-B089-6C4100F5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0C0A478-D896-35C3-4A02-FD6B447FC2D2}"/>
              </a:ext>
            </a:extLst>
          </p:cNvPr>
          <p:cNvCxnSpPr>
            <a:cxnSpLocks/>
            <a:stCxn id="3" idx="2"/>
            <a:endCxn id="9" idx="6"/>
          </p:cNvCxnSpPr>
          <p:nvPr/>
        </p:nvCxnSpPr>
        <p:spPr>
          <a:xfrm flipH="1">
            <a:off x="2038350" y="3000375"/>
            <a:ext cx="1828800" cy="85725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79130F3-CAD8-FF57-D507-4FFE5E1B4439}"/>
              </a:ext>
            </a:extLst>
          </p:cNvPr>
          <p:cNvCxnSpPr>
            <a:cxnSpLocks/>
            <a:stCxn id="3" idx="3"/>
            <a:endCxn id="8" idx="7"/>
          </p:cNvCxnSpPr>
          <p:nvPr/>
        </p:nvCxnSpPr>
        <p:spPr>
          <a:xfrm flipH="1">
            <a:off x="3315773" y="3498779"/>
            <a:ext cx="757822" cy="472072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E994491-CDDA-7F79-3A3B-8FF48F47E8F0}"/>
              </a:ext>
            </a:extLst>
          </p:cNvPr>
          <p:cNvCxnSpPr>
            <a:cxnSpLocks/>
            <a:stCxn id="3" idx="5"/>
            <a:endCxn id="7" idx="1"/>
          </p:cNvCxnSpPr>
          <p:nvPr/>
        </p:nvCxnSpPr>
        <p:spPr>
          <a:xfrm>
            <a:off x="5070404" y="3498779"/>
            <a:ext cx="757822" cy="472072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D119B89-BDB8-F5B1-861C-1D12740FE413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5276850" y="3000375"/>
            <a:ext cx="1828800" cy="85725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4436409-A5AA-36AC-CE2E-C8558A097895}"/>
              </a:ext>
            </a:extLst>
          </p:cNvPr>
          <p:cNvCxnSpPr>
            <a:cxnSpLocks/>
            <a:stCxn id="3" idx="7"/>
            <a:endCxn id="5" idx="3"/>
          </p:cNvCxnSpPr>
          <p:nvPr/>
        </p:nvCxnSpPr>
        <p:spPr>
          <a:xfrm flipV="1">
            <a:off x="5070404" y="2067998"/>
            <a:ext cx="1053097" cy="433972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00A1852-B2F5-1FB6-6A0E-D27B7F6C0F3B}"/>
              </a:ext>
            </a:extLst>
          </p:cNvPr>
          <p:cNvCxnSpPr>
            <a:cxnSpLocks/>
            <a:stCxn id="3" idx="1"/>
            <a:endCxn id="4" idx="5"/>
          </p:cNvCxnSpPr>
          <p:nvPr/>
        </p:nvCxnSpPr>
        <p:spPr>
          <a:xfrm flipH="1" flipV="1">
            <a:off x="3020498" y="2067998"/>
            <a:ext cx="1053097" cy="433972"/>
          </a:xfrm>
          <a:prstGeom prst="straightConnector1">
            <a:avLst/>
          </a:prstGeom>
          <a:ln w="19050">
            <a:solidFill>
              <a:srgbClr val="D2DCD6"/>
            </a:solidFill>
          </a:ln>
        </p:spPr>
      </p:cxnSp>
      <p:sp>
        <p:nvSpPr>
          <p:cNvPr id="30" name="Codex 활용">
            <a:extLst>
              <a:ext uri="{FF2B5EF4-FFF2-40B4-BE49-F238E27FC236}">
                <a16:creationId xmlns:a16="http://schemas.microsoft.com/office/drawing/2014/main" id="{1F629107-5D0F-3E13-5FDE-AC43342B77A5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Codex 활용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1AD5D134-010D-D7FD-7910-61440142A8D4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87568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6C8E690-E2E6-A8D8-BAE3-582423923FE7}"/>
              </a:ext>
            </a:extLst>
          </p:cNvPr>
          <p:cNvSpPr>
            <a:spLocks noGrp="1"/>
          </p:cNvSpPr>
          <p:nvPr/>
        </p:nvSpPr>
        <p:spPr>
          <a:xfrm>
            <a:off x="3867150" y="2295525"/>
            <a:ext cx="1409700" cy="1409700"/>
          </a:xfrm>
          <a:prstGeom prst="ellipse">
            <a:avLst/>
          </a:prstGeom>
          <a:solidFill>
            <a:srgbClr val="183E35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B0AC434-6EAC-F701-B231-EC4943F60C99}"/>
              </a:ext>
            </a:extLst>
          </p:cNvPr>
          <p:cNvSpPr>
            <a:spLocks noGrp="1"/>
          </p:cNvSpPr>
          <p:nvPr/>
        </p:nvSpPr>
        <p:spPr>
          <a:xfrm>
            <a:off x="2305050" y="135255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76CC84B-78EF-8915-9366-D58D106A1D7E}"/>
              </a:ext>
            </a:extLst>
          </p:cNvPr>
          <p:cNvSpPr>
            <a:spLocks noGrp="1"/>
          </p:cNvSpPr>
          <p:nvPr/>
        </p:nvSpPr>
        <p:spPr>
          <a:xfrm>
            <a:off x="6000750" y="135255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2B5F307-13A3-69A6-C9F6-D993A8272EF5}"/>
              </a:ext>
            </a:extLst>
          </p:cNvPr>
          <p:cNvSpPr>
            <a:spLocks noGrp="1"/>
          </p:cNvSpPr>
          <p:nvPr/>
        </p:nvSpPr>
        <p:spPr>
          <a:xfrm>
            <a:off x="7105650" y="266700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109BB5E-CBAC-80AB-3224-E88FF4745F26}"/>
              </a:ext>
            </a:extLst>
          </p:cNvPr>
          <p:cNvSpPr>
            <a:spLocks noGrp="1"/>
          </p:cNvSpPr>
          <p:nvPr/>
        </p:nvSpPr>
        <p:spPr>
          <a:xfrm>
            <a:off x="5705475" y="384810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D2B3E1B-6A75-C33D-C872-97C6B1E270A0}"/>
              </a:ext>
            </a:extLst>
          </p:cNvPr>
          <p:cNvSpPr>
            <a:spLocks noGrp="1"/>
          </p:cNvSpPr>
          <p:nvPr/>
        </p:nvSpPr>
        <p:spPr>
          <a:xfrm>
            <a:off x="2600325" y="384810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3B26099-FDA1-B220-0931-4EA5213915C1}"/>
              </a:ext>
            </a:extLst>
          </p:cNvPr>
          <p:cNvSpPr>
            <a:spLocks noGrp="1"/>
          </p:cNvSpPr>
          <p:nvPr/>
        </p:nvSpPr>
        <p:spPr>
          <a:xfrm>
            <a:off x="1200150" y="2667000"/>
            <a:ext cx="838200" cy="8382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05DC87D-FC29-12B8-CEF8-C8426903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00313" y="1547813"/>
            <a:ext cx="447675" cy="447675"/>
          </a:xfrm>
          <a:prstGeom prst="rect">
            <a:avLst/>
          </a:prstGeom>
        </p:spPr>
      </p:pic>
      <p:sp>
        <p:nvSpPr>
          <p:cNvPr id="19" name="PRD">
            <a:extLst>
              <a:ext uri="{FF2B5EF4-FFF2-40B4-BE49-F238E27FC236}">
                <a16:creationId xmlns:a16="http://schemas.microsoft.com/office/drawing/2014/main" id="{C1BF1394-60F3-82BC-B095-C8EAA76DC90F}"/>
              </a:ext>
            </a:extLst>
          </p:cNvPr>
          <p:cNvSpPr>
            <a:spLocks noGrp="1"/>
          </p:cNvSpPr>
          <p:nvPr/>
        </p:nvSpPr>
        <p:spPr>
          <a:xfrm>
            <a:off x="1866900" y="22574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PRD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65EB99A-B928-022B-55F0-3DDA5C883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6013" y="1547813"/>
            <a:ext cx="447675" cy="447675"/>
          </a:xfrm>
          <a:prstGeom prst="rect">
            <a:avLst/>
          </a:prstGeom>
        </p:spPr>
      </p:pic>
      <p:sp>
        <p:nvSpPr>
          <p:cNvPr id="21" name="페르소나">
            <a:extLst>
              <a:ext uri="{FF2B5EF4-FFF2-40B4-BE49-F238E27FC236}">
                <a16:creationId xmlns:a16="http://schemas.microsoft.com/office/drawing/2014/main" id="{1B6F10B0-1C6C-C073-350F-B2157E9CA16F}"/>
              </a:ext>
            </a:extLst>
          </p:cNvPr>
          <p:cNvSpPr>
            <a:spLocks noGrp="1"/>
          </p:cNvSpPr>
          <p:nvPr/>
        </p:nvSpPr>
        <p:spPr>
          <a:xfrm>
            <a:off x="5562600" y="22574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페르소나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065C7ED-29FA-7CF5-839A-13A0E98DF6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00913" y="2862263"/>
            <a:ext cx="447675" cy="447675"/>
          </a:xfrm>
          <a:prstGeom prst="rect">
            <a:avLst/>
          </a:prstGeom>
        </p:spPr>
      </p:pic>
      <p:sp>
        <p:nvSpPr>
          <p:cNvPr id="23" name="UI · 코드 · 배포">
            <a:extLst>
              <a:ext uri="{FF2B5EF4-FFF2-40B4-BE49-F238E27FC236}">
                <a16:creationId xmlns:a16="http://schemas.microsoft.com/office/drawing/2014/main" id="{98066574-F942-805A-9B5F-BD394ED48677}"/>
              </a:ext>
            </a:extLst>
          </p:cNvPr>
          <p:cNvSpPr>
            <a:spLocks noGrp="1"/>
          </p:cNvSpPr>
          <p:nvPr/>
        </p:nvSpPr>
        <p:spPr>
          <a:xfrm>
            <a:off x="6505575" y="3619500"/>
            <a:ext cx="2047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UI · 코드 · 배포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4F0198F-2603-1DF9-99FF-D59BCBD34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900738" y="4043363"/>
            <a:ext cx="447675" cy="447675"/>
          </a:xfrm>
          <a:prstGeom prst="rect">
            <a:avLst/>
          </a:prstGeom>
        </p:spPr>
      </p:pic>
      <p:sp>
        <p:nvSpPr>
          <p:cNvPr id="25" name="테스트 · UI 검수">
            <a:extLst>
              <a:ext uri="{FF2B5EF4-FFF2-40B4-BE49-F238E27FC236}">
                <a16:creationId xmlns:a16="http://schemas.microsoft.com/office/drawing/2014/main" id="{F4B96BF9-41AC-8CBE-3B94-B683A49261C8}"/>
              </a:ext>
            </a:extLst>
          </p:cNvPr>
          <p:cNvSpPr>
            <a:spLocks noGrp="1"/>
          </p:cNvSpPr>
          <p:nvPr/>
        </p:nvSpPr>
        <p:spPr>
          <a:xfrm>
            <a:off x="5000625" y="4733925"/>
            <a:ext cx="22574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테스트 · UI 검수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F70F2C7-09B8-60D8-8E38-2B7E4C1976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795588" y="4043363"/>
            <a:ext cx="447675" cy="447675"/>
          </a:xfrm>
          <a:prstGeom prst="rect">
            <a:avLst/>
          </a:prstGeom>
        </p:spPr>
      </p:pic>
      <p:sp>
        <p:nvSpPr>
          <p:cNvPr id="27" name="법령 · 판례 · 필지">
            <a:extLst>
              <a:ext uri="{FF2B5EF4-FFF2-40B4-BE49-F238E27FC236}">
                <a16:creationId xmlns:a16="http://schemas.microsoft.com/office/drawing/2014/main" id="{98E2CAD7-3029-9E37-AFD0-8238B2CBB9BC}"/>
              </a:ext>
            </a:extLst>
          </p:cNvPr>
          <p:cNvSpPr>
            <a:spLocks noGrp="1"/>
          </p:cNvSpPr>
          <p:nvPr/>
        </p:nvSpPr>
        <p:spPr>
          <a:xfrm>
            <a:off x="1857375" y="4733925"/>
            <a:ext cx="2324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법령 · 판례 · 필지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BFF2A6B-AE79-6604-6ECF-61F8459C04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395413" y="2862263"/>
            <a:ext cx="447675" cy="447675"/>
          </a:xfrm>
          <a:prstGeom prst="rect">
            <a:avLst/>
          </a:prstGeom>
        </p:spPr>
      </p:pic>
      <p:sp>
        <p:nvSpPr>
          <p:cNvPr id="29" name="통화 전사">
            <a:extLst>
              <a:ext uri="{FF2B5EF4-FFF2-40B4-BE49-F238E27FC236}">
                <a16:creationId xmlns:a16="http://schemas.microsoft.com/office/drawing/2014/main" id="{3F752D6A-30CF-A8DE-0C7D-797549BE58BF}"/>
              </a:ext>
            </a:extLst>
          </p:cNvPr>
          <p:cNvSpPr>
            <a:spLocks noGrp="1"/>
          </p:cNvSpPr>
          <p:nvPr/>
        </p:nvSpPr>
        <p:spPr>
          <a:xfrm>
            <a:off x="752475" y="3619500"/>
            <a:ext cx="1752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83E35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통화 전사</a:t>
            </a:r>
          </a:p>
        </p:txBody>
      </p:sp>
      <p:pic>
        <p:nvPicPr>
          <p:cNvPr id="31" name="그림 30" descr="도라에몽(도라에몽) - 나무위키">
            <a:extLst>
              <a:ext uri="{FF2B5EF4-FFF2-40B4-BE49-F238E27FC236}">
                <a16:creationId xmlns:a16="http://schemas.microsoft.com/office/drawing/2014/main" id="{C6DB8E3F-269C-8415-7A26-49F5B6457A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6011" y="2284984"/>
            <a:ext cx="1191978" cy="141547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4557CB0-50F2-E3D6-3267-EEDFF0F94B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9763" y="1925697"/>
            <a:ext cx="3162300" cy="199052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B2465A6-4E31-943E-7A36-D034836018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674" y="2590803"/>
            <a:ext cx="3548010" cy="91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2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B50D4811-CAB5-439D-9CCB-7EFFA9802947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6743700" y="3152775"/>
            <a:ext cx="752475" cy="995363"/>
          </a:xfrm>
          <a:prstGeom prst="bentConnector3">
            <a:avLst>
              <a:gd name="adj1" fmla="val 50000"/>
            </a:avLst>
          </a:prstGeom>
          <a:ln w="16193">
            <a:solidFill>
              <a:srgbClr val="567D89"/>
            </a:solidFill>
            <a:tailEnd type="triangle" w="sm" len="sm"/>
          </a:ln>
        </p:spPr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0E07537-41DC-4AE9-8865-B2418B506CB4}"/>
              </a:ext>
            </a:extLst>
          </p:cNvPr>
          <p:cNvCxnSpPr>
            <a:stCxn id="8" idx="3"/>
            <a:endCxn id="38" idx="1"/>
          </p:cNvCxnSpPr>
          <p:nvPr/>
        </p:nvCxnSpPr>
        <p:spPr>
          <a:xfrm flipV="1">
            <a:off x="6743700" y="3081338"/>
            <a:ext cx="752475" cy="71438"/>
          </a:xfrm>
          <a:prstGeom prst="bentConnector3">
            <a:avLst>
              <a:gd name="adj1" fmla="val 50000"/>
            </a:avLst>
          </a:prstGeom>
          <a:ln w="16193">
            <a:solidFill>
              <a:srgbClr val="567D89"/>
            </a:solidFill>
            <a:tailEnd type="triangle" w="sm" len="sm"/>
          </a:ln>
        </p:spPr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C36A2384-C6F6-4EA4-8E95-B83FD29A8AFE}"/>
              </a:ext>
            </a:extLst>
          </p:cNvPr>
          <p:cNvCxnSpPr>
            <a:stCxn id="8" idx="3"/>
            <a:endCxn id="34" idx="1"/>
          </p:cNvCxnSpPr>
          <p:nvPr/>
        </p:nvCxnSpPr>
        <p:spPr>
          <a:xfrm flipV="1">
            <a:off x="6743700" y="2014538"/>
            <a:ext cx="752475" cy="1138238"/>
          </a:xfrm>
          <a:prstGeom prst="bentConnector3">
            <a:avLst>
              <a:gd name="adj1" fmla="val 50000"/>
            </a:avLst>
          </a:prstGeom>
          <a:ln w="16193">
            <a:solidFill>
              <a:srgbClr val="567D89"/>
            </a:solidFill>
            <a:tailEnd type="triangle" w="sm" len="sm"/>
          </a:ln>
        </p:spPr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B510AA75-F1C3-429E-935C-AE9B1275E4B6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2352675" y="3152775"/>
            <a:ext cx="342900" cy="476250"/>
          </a:xfrm>
          <a:prstGeom prst="bentConnector3">
            <a:avLst>
              <a:gd name="adj1" fmla="val 50000"/>
            </a:avLst>
          </a:prstGeom>
          <a:ln w="19050">
            <a:solidFill>
              <a:srgbClr val="567D89"/>
            </a:solidFill>
            <a:tailEnd type="triangle" w="sm" len="sm"/>
          </a:ln>
        </p:spPr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C4A7D8F-C94B-4506-AEE9-A0276F039D7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519238" y="2781300"/>
            <a:ext cx="0" cy="485775"/>
          </a:xfrm>
          <a:prstGeom prst="straightConnector1">
            <a:avLst/>
          </a:prstGeom>
          <a:ln w="19050">
            <a:solidFill>
              <a:srgbClr val="567D89"/>
            </a:solidFill>
            <a:tailEnd type="triangle" w="sm" len="sm"/>
          </a:ln>
        </p:spPr>
      </p:cxnSp>
      <p:sp>
        <p:nvSpPr>
          <p:cNvPr id="46" name="CLJS · UIx · 모듈러 모놀리스">
            <a:extLst>
              <a:ext uri="{FF2B5EF4-FFF2-40B4-BE49-F238E27FC236}">
                <a16:creationId xmlns:a16="http://schemas.microsoft.com/office/drawing/2014/main" id="{4156EE49-9F0A-4EB9-8F62-9E1FA9CF410E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CLJS · UIx · 모듈러 모놀리스</a:t>
            </a:r>
          </a:p>
        </p:txBody>
      </p:sp>
      <p:sp>
        <p:nvSpPr>
          <p:cNvPr id="2" name="서비스 아키텍처">
            <a:extLst>
              <a:ext uri="{FF2B5EF4-FFF2-40B4-BE49-F238E27FC236}">
                <a16:creationId xmlns:a16="http://schemas.microsoft.com/office/drawing/2014/main" id="{9222434A-361A-4F0E-96C3-72E75AC09890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서비스 아키텍처</a:t>
            </a:r>
          </a:p>
        </p:txBody>
      </p:sp>
      <p:sp>
        <p:nvSpPr>
          <p:cNvPr id="3" name="24">
            <a:extLst>
              <a:ext uri="{FF2B5EF4-FFF2-40B4-BE49-F238E27FC236}">
                <a16:creationId xmlns:a16="http://schemas.microsoft.com/office/drawing/2014/main" id="{A76F5B65-85F1-4BEB-8AC6-DB659F81EE2C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E01E218-A932-4DEC-A345-65D07A0F8804}"/>
              </a:ext>
            </a:extLst>
          </p:cNvPr>
          <p:cNvSpPr>
            <a:spLocks noGrp="1"/>
          </p:cNvSpPr>
          <p:nvPr/>
        </p:nvSpPr>
        <p:spPr>
          <a:xfrm>
            <a:off x="495300" y="1447800"/>
            <a:ext cx="6496050" cy="3171825"/>
          </a:xfrm>
          <a:prstGeom prst="roundRect">
            <a:avLst>
              <a:gd name="adj" fmla="val 2402"/>
            </a:avLst>
          </a:prstGeom>
          <a:noFill/>
          <a:ln w="14288">
            <a:solidFill>
              <a:srgbClr val="D2DCD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ites">
            <a:extLst>
              <a:ext uri="{FF2B5EF4-FFF2-40B4-BE49-F238E27FC236}">
                <a16:creationId xmlns:a16="http://schemas.microsoft.com/office/drawing/2014/main" id="{C32C202A-8366-499F-892B-61DDE37D4D65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905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Sites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E45F84-CF06-426E-94B2-46694DE7061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666875" cy="7239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F1F458-588B-4214-8171-CC8008A7525B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1666875" cy="7239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EA7ACD-8CA1-449B-A81A-003BF369E89F}"/>
              </a:ext>
            </a:extLst>
          </p:cNvPr>
          <p:cNvSpPr>
            <a:spLocks noGrp="1"/>
          </p:cNvSpPr>
          <p:nvPr/>
        </p:nvSpPr>
        <p:spPr>
          <a:xfrm>
            <a:off x="2695575" y="1943100"/>
            <a:ext cx="4048125" cy="24193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CD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웹 앱">
            <a:extLst>
              <a:ext uri="{FF2B5EF4-FFF2-40B4-BE49-F238E27FC236}">
                <a16:creationId xmlns:a16="http://schemas.microsoft.com/office/drawing/2014/main" id="{CFEE6527-8638-46EE-AA6A-33753A008C11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웹 앱</a:t>
            </a:r>
          </a:p>
        </p:txBody>
      </p:sp>
      <p:sp>
        <p:nvSpPr>
          <p:cNvPr id="12" name="CLJS · UIx">
            <a:extLst>
              <a:ext uri="{FF2B5EF4-FFF2-40B4-BE49-F238E27FC236}">
                <a16:creationId xmlns:a16="http://schemas.microsoft.com/office/drawing/2014/main" id="{4A040697-B08A-4EBC-94DC-C273846CEF7D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2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2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CLJS · UIx</a:t>
            </a:r>
          </a:p>
        </p:txBody>
      </p:sp>
      <p:sp>
        <p:nvSpPr>
          <p:cNvPr id="13" name="서버 API">
            <a:extLst>
              <a:ext uri="{FF2B5EF4-FFF2-40B4-BE49-F238E27FC236}">
                <a16:creationId xmlns:a16="http://schemas.microsoft.com/office/drawing/2014/main" id="{3A3E7D99-A891-4169-B8F4-866E5E829FE9}"/>
              </a:ext>
            </a:extLst>
          </p:cNvPr>
          <p:cNvSpPr>
            <a:spLocks noGrp="1"/>
          </p:cNvSpPr>
          <p:nvPr/>
        </p:nvSpPr>
        <p:spPr>
          <a:xfrm>
            <a:off x="800100" y="3362325"/>
            <a:ext cx="14382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서버 API</a:t>
            </a:r>
          </a:p>
        </p:txBody>
      </p:sp>
      <p:sp>
        <p:nvSpPr>
          <p:cNvPr id="14" name="요청 · 권한 · 버전">
            <a:extLst>
              <a:ext uri="{FF2B5EF4-FFF2-40B4-BE49-F238E27FC236}">
                <a16:creationId xmlns:a16="http://schemas.microsoft.com/office/drawing/2014/main" id="{6C16DBFC-8053-4084-B57B-990437DAA3D7}"/>
              </a:ext>
            </a:extLst>
          </p:cNvPr>
          <p:cNvSpPr>
            <a:spLocks noGrp="1"/>
          </p:cNvSpPr>
          <p:nvPr/>
        </p:nvSpPr>
        <p:spPr>
          <a:xfrm>
            <a:off x="752475" y="3752850"/>
            <a:ext cx="15335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163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163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163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요청 · 권한 · 버전</a:t>
            </a:r>
          </a:p>
        </p:txBody>
      </p:sp>
      <p:sp>
        <p:nvSpPr>
          <p:cNvPr id="15" name="도메인 모듈">
            <a:extLst>
              <a:ext uri="{FF2B5EF4-FFF2-40B4-BE49-F238E27FC236}">
                <a16:creationId xmlns:a16="http://schemas.microsoft.com/office/drawing/2014/main" id="{EF581741-F733-4646-B6AA-2E86BD5668C9}"/>
              </a:ext>
            </a:extLst>
          </p:cNvPr>
          <p:cNvSpPr>
            <a:spLocks noGrp="1"/>
          </p:cNvSpPr>
          <p:nvPr/>
        </p:nvSpPr>
        <p:spPr>
          <a:xfrm>
            <a:off x="2867025" y="2047875"/>
            <a:ext cx="36671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72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도메인 모듈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70C584-A86F-4B6B-AB7A-82739CBBE608}"/>
              </a:ext>
            </a:extLst>
          </p:cNvPr>
          <p:cNvSpPr>
            <a:spLocks noGrp="1"/>
          </p:cNvSpPr>
          <p:nvPr/>
        </p:nvSpPr>
        <p:spPr>
          <a:xfrm>
            <a:off x="2847975" y="2447925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조직·명부">
            <a:extLst>
              <a:ext uri="{FF2B5EF4-FFF2-40B4-BE49-F238E27FC236}">
                <a16:creationId xmlns:a16="http://schemas.microsoft.com/office/drawing/2014/main" id="{23FCCDB1-0A44-420F-88CF-07FFB3A95554}"/>
              </a:ext>
            </a:extLst>
          </p:cNvPr>
          <p:cNvSpPr>
            <a:spLocks noGrp="1"/>
          </p:cNvSpPr>
          <p:nvPr/>
        </p:nvSpPr>
        <p:spPr>
          <a:xfrm>
            <a:off x="2876550" y="2562225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조직·명부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339EE7-E935-4E37-9C4C-2966559D4721}"/>
              </a:ext>
            </a:extLst>
          </p:cNvPr>
          <p:cNvSpPr>
            <a:spLocks noGrp="1"/>
          </p:cNvSpPr>
          <p:nvPr/>
        </p:nvSpPr>
        <p:spPr>
          <a:xfrm>
            <a:off x="4133850" y="2447925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재산·등기">
            <a:extLst>
              <a:ext uri="{FF2B5EF4-FFF2-40B4-BE49-F238E27FC236}">
                <a16:creationId xmlns:a16="http://schemas.microsoft.com/office/drawing/2014/main" id="{D3690694-6830-42A7-ABB1-F4F14669E763}"/>
              </a:ext>
            </a:extLst>
          </p:cNvPr>
          <p:cNvSpPr>
            <a:spLocks noGrp="1"/>
          </p:cNvSpPr>
          <p:nvPr/>
        </p:nvSpPr>
        <p:spPr>
          <a:xfrm>
            <a:off x="4162425" y="2562225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재산·등기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248930-521E-4C55-AB5B-B7295A4F0FC0}"/>
              </a:ext>
            </a:extLst>
          </p:cNvPr>
          <p:cNvSpPr>
            <a:spLocks noGrp="1"/>
          </p:cNvSpPr>
          <p:nvPr/>
        </p:nvSpPr>
        <p:spPr>
          <a:xfrm>
            <a:off x="5419725" y="2447925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회계">
            <a:extLst>
              <a:ext uri="{FF2B5EF4-FFF2-40B4-BE49-F238E27FC236}">
                <a16:creationId xmlns:a16="http://schemas.microsoft.com/office/drawing/2014/main" id="{DF3D4105-77E4-4FB7-83E0-E12E18267639}"/>
              </a:ext>
            </a:extLst>
          </p:cNvPr>
          <p:cNvSpPr>
            <a:spLocks noGrp="1"/>
          </p:cNvSpPr>
          <p:nvPr/>
        </p:nvSpPr>
        <p:spPr>
          <a:xfrm>
            <a:off x="5448300" y="2562225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회계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45620B5-328F-4117-96B2-44C2C6A8FD82}"/>
              </a:ext>
            </a:extLst>
          </p:cNvPr>
          <p:cNvSpPr>
            <a:spLocks noGrp="1"/>
          </p:cNvSpPr>
          <p:nvPr/>
        </p:nvSpPr>
        <p:spPr>
          <a:xfrm>
            <a:off x="2847975" y="3028950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회의·동의">
            <a:extLst>
              <a:ext uri="{FF2B5EF4-FFF2-40B4-BE49-F238E27FC236}">
                <a16:creationId xmlns:a16="http://schemas.microsoft.com/office/drawing/2014/main" id="{AFCC1C0B-3C22-4502-825B-901CD410F0ED}"/>
              </a:ext>
            </a:extLst>
          </p:cNvPr>
          <p:cNvSpPr>
            <a:spLocks noGrp="1"/>
          </p:cNvSpPr>
          <p:nvPr/>
        </p:nvSpPr>
        <p:spPr>
          <a:xfrm>
            <a:off x="2876550" y="3143250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회의·동의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59C2E1-62D6-4C46-A2DB-F2067506EA15}"/>
              </a:ext>
            </a:extLst>
          </p:cNvPr>
          <p:cNvSpPr>
            <a:spLocks noGrp="1"/>
          </p:cNvSpPr>
          <p:nvPr/>
        </p:nvSpPr>
        <p:spPr>
          <a:xfrm>
            <a:off x="4133850" y="3028950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문서·버전">
            <a:extLst>
              <a:ext uri="{FF2B5EF4-FFF2-40B4-BE49-F238E27FC236}">
                <a16:creationId xmlns:a16="http://schemas.microsoft.com/office/drawing/2014/main" id="{2F1A3886-F83D-42C9-811A-4340A6CE3589}"/>
              </a:ext>
            </a:extLst>
          </p:cNvPr>
          <p:cNvSpPr>
            <a:spLocks noGrp="1"/>
          </p:cNvSpPr>
          <p:nvPr/>
        </p:nvSpPr>
        <p:spPr>
          <a:xfrm>
            <a:off x="4162425" y="3143250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문서·버전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2CF3188-D1F1-4570-8488-5D4F48CF5B55}"/>
              </a:ext>
            </a:extLst>
          </p:cNvPr>
          <p:cNvSpPr>
            <a:spLocks noGrp="1"/>
          </p:cNvSpPr>
          <p:nvPr/>
        </p:nvSpPr>
        <p:spPr>
          <a:xfrm>
            <a:off x="5419725" y="3028950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법률·전문가">
            <a:extLst>
              <a:ext uri="{FF2B5EF4-FFF2-40B4-BE49-F238E27FC236}">
                <a16:creationId xmlns:a16="http://schemas.microsoft.com/office/drawing/2014/main" id="{CA3B01E8-D1DA-43C6-BEAA-032AA2092D25}"/>
              </a:ext>
            </a:extLst>
          </p:cNvPr>
          <p:cNvSpPr>
            <a:spLocks noGrp="1"/>
          </p:cNvSpPr>
          <p:nvPr/>
        </p:nvSpPr>
        <p:spPr>
          <a:xfrm>
            <a:off x="5448300" y="3143250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법률·전문가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5B69336-A161-45F9-BAFB-EAAEA57902EE}"/>
              </a:ext>
            </a:extLst>
          </p:cNvPr>
          <p:cNvSpPr>
            <a:spLocks noGrp="1"/>
          </p:cNvSpPr>
          <p:nvPr/>
        </p:nvSpPr>
        <p:spPr>
          <a:xfrm>
            <a:off x="2847975" y="3609975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AI 작업">
            <a:extLst>
              <a:ext uri="{FF2B5EF4-FFF2-40B4-BE49-F238E27FC236}">
                <a16:creationId xmlns:a16="http://schemas.microsoft.com/office/drawing/2014/main" id="{ADE2B797-72CA-41B8-BA08-35BC76B5F2FE}"/>
              </a:ext>
            </a:extLst>
          </p:cNvPr>
          <p:cNvSpPr>
            <a:spLocks noGrp="1"/>
          </p:cNvSpPr>
          <p:nvPr/>
        </p:nvSpPr>
        <p:spPr>
          <a:xfrm>
            <a:off x="2876550" y="3724275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AI 작업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D401193-31D2-4094-9086-9BA6C1122471}"/>
              </a:ext>
            </a:extLst>
          </p:cNvPr>
          <p:cNvSpPr>
            <a:spLocks noGrp="1"/>
          </p:cNvSpPr>
          <p:nvPr/>
        </p:nvSpPr>
        <p:spPr>
          <a:xfrm>
            <a:off x="4133850" y="3609975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변경·알림">
            <a:extLst>
              <a:ext uri="{FF2B5EF4-FFF2-40B4-BE49-F238E27FC236}">
                <a16:creationId xmlns:a16="http://schemas.microsoft.com/office/drawing/2014/main" id="{7D0DFC55-B1CB-48D4-80A5-FA671C139599}"/>
              </a:ext>
            </a:extLst>
          </p:cNvPr>
          <p:cNvSpPr>
            <a:spLocks noGrp="1"/>
          </p:cNvSpPr>
          <p:nvPr/>
        </p:nvSpPr>
        <p:spPr>
          <a:xfrm>
            <a:off x="4162425" y="3724275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변경·알림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A33BB76-6571-452A-85C2-30960CC272AC}"/>
              </a:ext>
            </a:extLst>
          </p:cNvPr>
          <p:cNvSpPr>
            <a:spLocks noGrp="1"/>
          </p:cNvSpPr>
          <p:nvPr/>
        </p:nvSpPr>
        <p:spPr>
          <a:xfrm>
            <a:off x="5419725" y="3609975"/>
            <a:ext cx="1152525" cy="457200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자원 정리">
            <a:extLst>
              <a:ext uri="{FF2B5EF4-FFF2-40B4-BE49-F238E27FC236}">
                <a16:creationId xmlns:a16="http://schemas.microsoft.com/office/drawing/2014/main" id="{0DDD4523-E392-4C3A-A865-49720A06227C}"/>
              </a:ext>
            </a:extLst>
          </p:cNvPr>
          <p:cNvSpPr>
            <a:spLocks noGrp="1"/>
          </p:cNvSpPr>
          <p:nvPr/>
        </p:nvSpPr>
        <p:spPr>
          <a:xfrm>
            <a:off x="5448300" y="3724275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388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자원 정리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3275EB7-4110-405B-97C6-123F4FD12CB0}"/>
              </a:ext>
            </a:extLst>
          </p:cNvPr>
          <p:cNvSpPr>
            <a:spLocks noGrp="1"/>
          </p:cNvSpPr>
          <p:nvPr/>
        </p:nvSpPr>
        <p:spPr>
          <a:xfrm>
            <a:off x="7496175" y="1638300"/>
            <a:ext cx="1152525" cy="752475"/>
          </a:xfrm>
          <a:prstGeom prst="rect">
            <a:avLst/>
          </a:prstGeom>
          <a:solidFill>
            <a:srgbClr val="173F4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OpenAI">
            <a:extLst>
              <a:ext uri="{FF2B5EF4-FFF2-40B4-BE49-F238E27FC236}">
                <a16:creationId xmlns:a16="http://schemas.microsoft.com/office/drawing/2014/main" id="{0A6F650D-B3FC-4CB1-9435-0DE3A16F6015}"/>
              </a:ext>
            </a:extLst>
          </p:cNvPr>
          <p:cNvSpPr>
            <a:spLocks noGrp="1"/>
          </p:cNvSpPr>
          <p:nvPr/>
        </p:nvSpPr>
        <p:spPr>
          <a:xfrm>
            <a:off x="7543800" y="1743075"/>
            <a:ext cx="10572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7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OpenAI</a:t>
            </a:r>
          </a:p>
        </p:txBody>
      </p:sp>
      <p:sp>
        <p:nvSpPr>
          <p:cNvPr id="37" name="모델 · 검색">
            <a:extLst>
              <a:ext uri="{FF2B5EF4-FFF2-40B4-BE49-F238E27FC236}">
                <a16:creationId xmlns:a16="http://schemas.microsoft.com/office/drawing/2014/main" id="{D94876CF-D3A1-44A5-84AD-45F3E6C8DB38}"/>
              </a:ext>
            </a:extLst>
          </p:cNvPr>
          <p:cNvSpPr>
            <a:spLocks noGrp="1"/>
          </p:cNvSpPr>
          <p:nvPr/>
        </p:nvSpPr>
        <p:spPr>
          <a:xfrm>
            <a:off x="7543800" y="2124075"/>
            <a:ext cx="1057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20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200">
                <a:solidFill>
                  <a:srgbClr val="BDCFCA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BDCFCA"/>
                </a:solidFill>
                <a:latin typeface="Pretendard"/>
                <a:ea typeface="Pretendard"/>
                <a:cs typeface="Pretendard"/>
              </a:rPr>
              <a:t>모델 · 검색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548F76F-E956-4A1E-BED8-7FCDBB909F9A}"/>
              </a:ext>
            </a:extLst>
          </p:cNvPr>
          <p:cNvSpPr>
            <a:spLocks noGrp="1"/>
          </p:cNvSpPr>
          <p:nvPr/>
        </p:nvSpPr>
        <p:spPr>
          <a:xfrm>
            <a:off x="7496175" y="2705100"/>
            <a:ext cx="1152525" cy="752475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D1">
            <a:extLst>
              <a:ext uri="{FF2B5EF4-FFF2-40B4-BE49-F238E27FC236}">
                <a16:creationId xmlns:a16="http://schemas.microsoft.com/office/drawing/2014/main" id="{EF71B705-6068-4082-9422-3B80AEB24253}"/>
              </a:ext>
            </a:extLst>
          </p:cNvPr>
          <p:cNvSpPr>
            <a:spLocks noGrp="1"/>
          </p:cNvSpPr>
          <p:nvPr/>
        </p:nvSpPr>
        <p:spPr>
          <a:xfrm>
            <a:off x="7543800" y="2809875"/>
            <a:ext cx="10572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D1</a:t>
            </a:r>
          </a:p>
        </p:txBody>
      </p:sp>
      <p:sp>
        <p:nvSpPr>
          <p:cNvPr id="41" name="상태 · 버전">
            <a:extLst>
              <a:ext uri="{FF2B5EF4-FFF2-40B4-BE49-F238E27FC236}">
                <a16:creationId xmlns:a16="http://schemas.microsoft.com/office/drawing/2014/main" id="{8F374639-8005-48F9-B228-5E8876647D95}"/>
              </a:ext>
            </a:extLst>
          </p:cNvPr>
          <p:cNvSpPr>
            <a:spLocks noGrp="1"/>
          </p:cNvSpPr>
          <p:nvPr/>
        </p:nvSpPr>
        <p:spPr>
          <a:xfrm>
            <a:off x="7543800" y="3190875"/>
            <a:ext cx="1057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2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2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상태 · 버전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4141E09-BC38-40DB-943A-3C6633C55594}"/>
              </a:ext>
            </a:extLst>
          </p:cNvPr>
          <p:cNvSpPr>
            <a:spLocks noGrp="1"/>
          </p:cNvSpPr>
          <p:nvPr/>
        </p:nvSpPr>
        <p:spPr>
          <a:xfrm>
            <a:off x="7496175" y="3771900"/>
            <a:ext cx="1152525" cy="752475"/>
          </a:xfrm>
          <a:prstGeom prst="rect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R2">
            <a:extLst>
              <a:ext uri="{FF2B5EF4-FFF2-40B4-BE49-F238E27FC236}">
                <a16:creationId xmlns:a16="http://schemas.microsoft.com/office/drawing/2014/main" id="{EB474C62-AB94-4AAC-94C9-A4E0C7EF942A}"/>
              </a:ext>
            </a:extLst>
          </p:cNvPr>
          <p:cNvSpPr>
            <a:spLocks noGrp="1"/>
          </p:cNvSpPr>
          <p:nvPr/>
        </p:nvSpPr>
        <p:spPr>
          <a:xfrm>
            <a:off x="7543800" y="3876675"/>
            <a:ext cx="10572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R2</a:t>
            </a:r>
          </a:p>
        </p:txBody>
      </p:sp>
      <p:sp>
        <p:nvSpPr>
          <p:cNvPr id="45" name="원본 · 음성">
            <a:extLst>
              <a:ext uri="{FF2B5EF4-FFF2-40B4-BE49-F238E27FC236}">
                <a16:creationId xmlns:a16="http://schemas.microsoft.com/office/drawing/2014/main" id="{29FEE16D-4888-4C81-9305-BBCF084367FD}"/>
              </a:ext>
            </a:extLst>
          </p:cNvPr>
          <p:cNvSpPr>
            <a:spLocks noGrp="1"/>
          </p:cNvSpPr>
          <p:nvPr/>
        </p:nvSpPr>
        <p:spPr>
          <a:xfrm>
            <a:off x="7543800" y="4257675"/>
            <a:ext cx="1057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2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2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원본 · 음성</a:t>
            </a:r>
          </a:p>
        </p:txBody>
      </p:sp>
    </p:spTree>
    <p:extLst>
      <p:ext uri="{BB962C8B-B14F-4D97-AF65-F5344CB8AC3E}">
        <p14:creationId xmlns:p14="http://schemas.microsoft.com/office/powerpoint/2010/main" val="1139548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I 모델과 검색 기술">
            <a:extLst>
              <a:ext uri="{FF2B5EF4-FFF2-40B4-BE49-F238E27FC236}">
                <a16:creationId xmlns:a16="http://schemas.microsoft.com/office/drawing/2014/main" id="{9A4E1E9E-C902-421E-8D4B-74BD8F3336FA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AI 모델과 검색 기술</a:t>
            </a:r>
          </a:p>
        </p:txBody>
      </p:sp>
      <p:sp>
        <p:nvSpPr>
          <p:cNvPr id="2" name="25">
            <a:extLst>
              <a:ext uri="{FF2B5EF4-FFF2-40B4-BE49-F238E27FC236}">
                <a16:creationId xmlns:a16="http://schemas.microsoft.com/office/drawing/2014/main" id="{5E337293-1BAD-4CD1-BF63-C1198AC31E99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810631-8FBF-48C3-9BA9-2B214BCA3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" y="1495425"/>
            <a:ext cx="504825" cy="504825"/>
          </a:xfrm>
          <a:prstGeom prst="rect">
            <a:avLst/>
          </a:prstGeom>
        </p:spPr>
      </p:pic>
      <p:sp>
        <p:nvSpPr>
          <p:cNvPr id="4" name="Whisper">
            <a:extLst>
              <a:ext uri="{FF2B5EF4-FFF2-40B4-BE49-F238E27FC236}">
                <a16:creationId xmlns:a16="http://schemas.microsoft.com/office/drawing/2014/main" id="{1915DFF9-00EE-419C-B56D-60E4539C2F74}"/>
              </a:ext>
            </a:extLst>
          </p:cNvPr>
          <p:cNvSpPr>
            <a:spLocks noGrp="1"/>
          </p:cNvSpPr>
          <p:nvPr/>
        </p:nvSpPr>
        <p:spPr>
          <a:xfrm>
            <a:off x="504825" y="2200275"/>
            <a:ext cx="26479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Whisper</a:t>
            </a:r>
          </a:p>
        </p:txBody>
      </p:sp>
      <p:sp>
        <p:nvSpPr>
          <p:cNvPr id="5" name="whisper-1">
            <a:extLst>
              <a:ext uri="{FF2B5EF4-FFF2-40B4-BE49-F238E27FC236}">
                <a16:creationId xmlns:a16="http://schemas.microsoft.com/office/drawing/2014/main" id="{2CB59E5B-B99A-41DC-B8D3-541E78D99E75}"/>
              </a:ext>
            </a:extLst>
          </p:cNvPr>
          <p:cNvSpPr>
            <a:spLocks noGrp="1"/>
          </p:cNvSpPr>
          <p:nvPr/>
        </p:nvSpPr>
        <p:spPr>
          <a:xfrm>
            <a:off x="504825" y="2695575"/>
            <a:ext cx="2647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whisper-1</a:t>
            </a:r>
          </a:p>
        </p:txBody>
      </p:sp>
      <p:sp>
        <p:nvSpPr>
          <p:cNvPr id="6" name="음성 전사 · 구간 시각">
            <a:extLst>
              <a:ext uri="{FF2B5EF4-FFF2-40B4-BE49-F238E27FC236}">
                <a16:creationId xmlns:a16="http://schemas.microsoft.com/office/drawing/2014/main" id="{D2DC9798-D96F-4827-8741-D47209E49D73}"/>
              </a:ext>
            </a:extLst>
          </p:cNvPr>
          <p:cNvSpPr>
            <a:spLocks noGrp="1"/>
          </p:cNvSpPr>
          <p:nvPr/>
        </p:nvSpPr>
        <p:spPr>
          <a:xfrm>
            <a:off x="504825" y="3124200"/>
            <a:ext cx="27336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4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음성 전사 · 구간 시각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8B9D6E8-4530-4D71-9D9C-CEDCD0E8E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62325" y="1495425"/>
            <a:ext cx="504825" cy="504825"/>
          </a:xfrm>
          <a:prstGeom prst="rect">
            <a:avLst/>
          </a:prstGeom>
        </p:spPr>
      </p:pic>
      <p:sp>
        <p:nvSpPr>
          <p:cNvPr id="8" name="GPT-6 Luna">
            <a:extLst>
              <a:ext uri="{FF2B5EF4-FFF2-40B4-BE49-F238E27FC236}">
                <a16:creationId xmlns:a16="http://schemas.microsoft.com/office/drawing/2014/main" id="{9AC0F75C-53D5-4FDB-AE36-132974407ADE}"/>
              </a:ext>
            </a:extLst>
          </p:cNvPr>
          <p:cNvSpPr>
            <a:spLocks noGrp="1"/>
          </p:cNvSpPr>
          <p:nvPr/>
        </p:nvSpPr>
        <p:spPr>
          <a:xfrm>
            <a:off x="3362325" y="2200275"/>
            <a:ext cx="26479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GPT-6 Luna</a:t>
            </a:r>
          </a:p>
        </p:txBody>
      </p:sp>
      <p:sp>
        <p:nvSpPr>
          <p:cNvPr id="9" name="gpt-6-luna">
            <a:extLst>
              <a:ext uri="{FF2B5EF4-FFF2-40B4-BE49-F238E27FC236}">
                <a16:creationId xmlns:a16="http://schemas.microsoft.com/office/drawing/2014/main" id="{21749089-1C9B-44ED-87AD-357B3BEB4D75}"/>
              </a:ext>
            </a:extLst>
          </p:cNvPr>
          <p:cNvSpPr>
            <a:spLocks noGrp="1"/>
          </p:cNvSpPr>
          <p:nvPr/>
        </p:nvSpPr>
        <p:spPr>
          <a:xfrm>
            <a:off x="3362325" y="2695575"/>
            <a:ext cx="2647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gpt-6-luna</a:t>
            </a:r>
          </a:p>
        </p:txBody>
      </p:sp>
      <p:sp>
        <p:nvSpPr>
          <p:cNvPr id="10" name="추출 · 요약 · 추천 설명">
            <a:extLst>
              <a:ext uri="{FF2B5EF4-FFF2-40B4-BE49-F238E27FC236}">
                <a16:creationId xmlns:a16="http://schemas.microsoft.com/office/drawing/2014/main" id="{4CA8A306-73E0-477F-8F62-1B975CA21908}"/>
              </a:ext>
            </a:extLst>
          </p:cNvPr>
          <p:cNvSpPr>
            <a:spLocks noGrp="1"/>
          </p:cNvSpPr>
          <p:nvPr/>
        </p:nvSpPr>
        <p:spPr>
          <a:xfrm>
            <a:off x="3362325" y="3124200"/>
            <a:ext cx="27336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4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추출 · 요약 · 추천 설명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2CD2F3B-0887-48F3-8E27-808B6F1F0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19825" y="1495425"/>
            <a:ext cx="504825" cy="504825"/>
          </a:xfrm>
          <a:prstGeom prst="rect">
            <a:avLst/>
          </a:prstGeom>
        </p:spPr>
      </p:pic>
      <p:sp>
        <p:nvSpPr>
          <p:cNvPr id="12" name="GPT-6.1 Sol">
            <a:extLst>
              <a:ext uri="{FF2B5EF4-FFF2-40B4-BE49-F238E27FC236}">
                <a16:creationId xmlns:a16="http://schemas.microsoft.com/office/drawing/2014/main" id="{230612D5-3711-454F-BA1C-FD42864C6521}"/>
              </a:ext>
            </a:extLst>
          </p:cNvPr>
          <p:cNvSpPr>
            <a:spLocks noGrp="1"/>
          </p:cNvSpPr>
          <p:nvPr/>
        </p:nvSpPr>
        <p:spPr>
          <a:xfrm>
            <a:off x="6219825" y="2200275"/>
            <a:ext cx="26479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GPT-6.1 Sol</a:t>
            </a:r>
          </a:p>
        </p:txBody>
      </p:sp>
      <p:sp>
        <p:nvSpPr>
          <p:cNvPr id="13" name="gpt-6.1-sol">
            <a:extLst>
              <a:ext uri="{FF2B5EF4-FFF2-40B4-BE49-F238E27FC236}">
                <a16:creationId xmlns:a16="http://schemas.microsoft.com/office/drawing/2014/main" id="{81AA6FD8-DD0C-4942-B5E9-43796843408F}"/>
              </a:ext>
            </a:extLst>
          </p:cNvPr>
          <p:cNvSpPr>
            <a:spLocks noGrp="1"/>
          </p:cNvSpPr>
          <p:nvPr/>
        </p:nvSpPr>
        <p:spPr>
          <a:xfrm>
            <a:off x="6219825" y="2695575"/>
            <a:ext cx="2647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gpt-6.1-sol</a:t>
            </a:r>
          </a:p>
        </p:txBody>
      </p:sp>
      <p:sp>
        <p:nvSpPr>
          <p:cNvPr id="14" name="자료 상충 · 복잡한 문서 분석">
            <a:extLst>
              <a:ext uri="{FF2B5EF4-FFF2-40B4-BE49-F238E27FC236}">
                <a16:creationId xmlns:a16="http://schemas.microsoft.com/office/drawing/2014/main" id="{00C39B6D-A720-44CD-A597-DB0346A965C5}"/>
              </a:ext>
            </a:extLst>
          </p:cNvPr>
          <p:cNvSpPr>
            <a:spLocks noGrp="1"/>
          </p:cNvSpPr>
          <p:nvPr/>
        </p:nvSpPr>
        <p:spPr>
          <a:xfrm>
            <a:off x="6219825" y="3124200"/>
            <a:ext cx="27336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425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자료 상충 · 복잡한 문서 분석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183502B2-6186-4C84-95C5-AEF0B744E6B5}"/>
              </a:ext>
            </a:extLst>
          </p:cNvPr>
          <p:cNvSpPr>
            <a:spLocks noGrp="1"/>
          </p:cNvSpPr>
          <p:nvPr/>
        </p:nvSpPr>
        <p:spPr>
          <a:xfrm>
            <a:off x="504825" y="3648075"/>
            <a:ext cx="8134350" cy="0"/>
          </a:xfrm>
          <a:prstGeom prst="line">
            <a:avLst/>
          </a:prstGeom>
          <a:noFill/>
          <a:ln w="9525">
            <a:solidFill>
              <a:srgbClr val="D2DCD6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CC50B6A-D2E6-4BD2-9A8C-9BC63CE609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14350" y="3990975"/>
            <a:ext cx="409575" cy="409575"/>
          </a:xfrm>
          <a:prstGeom prst="rect">
            <a:avLst/>
          </a:prstGeom>
        </p:spPr>
      </p:pic>
      <p:sp>
        <p:nvSpPr>
          <p:cNvPr id="17" name="Luna Decisions">
            <a:extLst>
              <a:ext uri="{FF2B5EF4-FFF2-40B4-BE49-F238E27FC236}">
                <a16:creationId xmlns:a16="http://schemas.microsoft.com/office/drawing/2014/main" id="{DDC608D9-4D32-436C-9F3C-32868F95494A}"/>
              </a:ext>
            </a:extLst>
          </p:cNvPr>
          <p:cNvSpPr>
            <a:spLocks noGrp="1"/>
          </p:cNvSpPr>
          <p:nvPr/>
        </p:nvSpPr>
        <p:spPr>
          <a:xfrm>
            <a:off x="1085850" y="3895725"/>
            <a:ext cx="35433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Luna Decisions</a:t>
            </a:r>
          </a:p>
        </p:txBody>
      </p:sp>
      <p:sp>
        <p:nvSpPr>
          <p:cNvPr id="18" name="Luna / Sol 선택 · 다음 작업 판단">
            <a:extLst>
              <a:ext uri="{FF2B5EF4-FFF2-40B4-BE49-F238E27FC236}">
                <a16:creationId xmlns:a16="http://schemas.microsoft.com/office/drawing/2014/main" id="{9896C7A9-3C18-4149-A10B-403B39AED0CF}"/>
              </a:ext>
            </a:extLst>
          </p:cNvPr>
          <p:cNvSpPr>
            <a:spLocks noGrp="1"/>
          </p:cNvSpPr>
          <p:nvPr/>
        </p:nvSpPr>
        <p:spPr>
          <a:xfrm>
            <a:off x="1085850" y="4381500"/>
            <a:ext cx="3486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>
              <a:defRPr sz="1425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425" dirty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Luna / Sol </a:t>
            </a:r>
            <a:r>
              <a:rPr sz="1425" dirty="0" err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1425" dirty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25" dirty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lang="ko-KR" altLang="en-US" sz="1425" dirty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매칭 </a:t>
            </a:r>
            <a:r>
              <a:rPr lang="en-US" altLang="ko-KR" sz="1425" dirty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25" dirty="0" err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425" dirty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dirty="0" err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1425" dirty="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dirty="0" err="1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판단</a:t>
            </a:r>
            <a:endParaRPr sz="1425" dirty="0">
              <a:solidFill>
                <a:srgbClr val="567D89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7BFC42F-E899-48D5-AB3E-8F30824DB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953000" y="3990975"/>
            <a:ext cx="409575" cy="409575"/>
          </a:xfrm>
          <a:prstGeom prst="rect">
            <a:avLst/>
          </a:prstGeom>
        </p:spPr>
      </p:pic>
      <p:sp>
        <p:nvSpPr>
          <p:cNvPr id="20" name="File Search">
            <a:extLst>
              <a:ext uri="{FF2B5EF4-FFF2-40B4-BE49-F238E27FC236}">
                <a16:creationId xmlns:a16="http://schemas.microsoft.com/office/drawing/2014/main" id="{7D710A77-EA3C-40E6-A219-1ADF784DD20C}"/>
              </a:ext>
            </a:extLst>
          </p:cNvPr>
          <p:cNvSpPr>
            <a:spLocks noGrp="1"/>
          </p:cNvSpPr>
          <p:nvPr/>
        </p:nvSpPr>
        <p:spPr>
          <a:xfrm>
            <a:off x="5524500" y="3895725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File Search</a:t>
            </a:r>
          </a:p>
        </p:txBody>
      </p:sp>
      <p:sp>
        <p:nvSpPr>
          <p:cNvPr id="21" name="문서·버전별 근거 검색 · 인용">
            <a:extLst>
              <a:ext uri="{FF2B5EF4-FFF2-40B4-BE49-F238E27FC236}">
                <a16:creationId xmlns:a16="http://schemas.microsoft.com/office/drawing/2014/main" id="{20049228-7000-4E5A-9004-D2497941C37B}"/>
              </a:ext>
            </a:extLst>
          </p:cNvPr>
          <p:cNvSpPr>
            <a:spLocks noGrp="1"/>
          </p:cNvSpPr>
          <p:nvPr/>
        </p:nvSpPr>
        <p:spPr>
          <a:xfrm>
            <a:off x="5524500" y="4381500"/>
            <a:ext cx="31813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425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문서·버전별 근거 검색 · 인용</a:t>
            </a:r>
          </a:p>
        </p:txBody>
      </p:sp>
    </p:spTree>
    <p:extLst>
      <p:ext uri="{BB962C8B-B14F-4D97-AF65-F5344CB8AC3E}">
        <p14:creationId xmlns:p14="http://schemas.microsoft.com/office/powerpoint/2010/main" val="1431135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안전한 SW를 만드는 방식">
            <a:extLst>
              <a:ext uri="{FF2B5EF4-FFF2-40B4-BE49-F238E27FC236}">
                <a16:creationId xmlns:a16="http://schemas.microsoft.com/office/drawing/2014/main" id="{F04BBB8E-E8AB-43A8-97F4-C35D2598E898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안전한 SW를 만드는 방식</a:t>
            </a:r>
          </a:p>
        </p:txBody>
      </p:sp>
      <p:sp>
        <p:nvSpPr>
          <p:cNvPr id="2" name="26">
            <a:extLst>
              <a:ext uri="{FF2B5EF4-FFF2-40B4-BE49-F238E27FC236}">
                <a16:creationId xmlns:a16="http://schemas.microsoft.com/office/drawing/2014/main" id="{F8C1A7D3-B2B4-40A7-88C2-921D4E34AE50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6DDDA71-32BB-4D25-A3CC-29D2202BF0DA}"/>
              </a:ext>
            </a:extLst>
          </p:cNvPr>
          <p:cNvSpPr>
            <a:spLocks noGrp="1"/>
          </p:cNvSpPr>
          <p:nvPr/>
        </p:nvSpPr>
        <p:spPr>
          <a:xfrm>
            <a:off x="923925" y="1619250"/>
            <a:ext cx="1009650" cy="100965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B5780E-FC42-4988-A28D-8A60B1E1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71575" y="1866900"/>
            <a:ext cx="514350" cy="514350"/>
          </a:xfrm>
          <a:prstGeom prst="rect">
            <a:avLst/>
          </a:prstGeom>
        </p:spPr>
      </p:pic>
      <p:sp>
        <p:nvSpPr>
          <p:cNvPr id="5" name="PRD">
            <a:extLst>
              <a:ext uri="{FF2B5EF4-FFF2-40B4-BE49-F238E27FC236}">
                <a16:creationId xmlns:a16="http://schemas.microsoft.com/office/drawing/2014/main" id="{B5420575-849B-4F5C-A3CB-5E593DEC8904}"/>
              </a:ext>
            </a:extLst>
          </p:cNvPr>
          <p:cNvSpPr>
            <a:spLocks noGrp="1"/>
          </p:cNvSpPr>
          <p:nvPr/>
        </p:nvSpPr>
        <p:spPr>
          <a:xfrm>
            <a:off x="504825" y="2857500"/>
            <a:ext cx="18478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PRD</a:t>
            </a:r>
          </a:p>
        </p:txBody>
      </p:sp>
      <p:sp>
        <p:nvSpPr>
          <p:cNvPr id="6" name="요구사항과 완료 조건을 명시">
            <a:extLst>
              <a:ext uri="{FF2B5EF4-FFF2-40B4-BE49-F238E27FC236}">
                <a16:creationId xmlns:a16="http://schemas.microsoft.com/office/drawing/2014/main" id="{2A953D99-C0B4-471A-8403-5369C1E8CD16}"/>
              </a:ext>
            </a:extLst>
          </p:cNvPr>
          <p:cNvSpPr>
            <a:spLocks noGrp="1"/>
          </p:cNvSpPr>
          <p:nvPr/>
        </p:nvSpPr>
        <p:spPr>
          <a:xfrm>
            <a:off x="457200" y="3457575"/>
            <a:ext cx="19526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요구사항과</a:t>
            </a:r>
          </a:p>
          <a:p>
            <a: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완료 조건을 명시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9A640DE-961B-4024-ADC1-179EE6A1F4EF}"/>
              </a:ext>
            </a:extLst>
          </p:cNvPr>
          <p:cNvSpPr>
            <a:spLocks noGrp="1"/>
          </p:cNvSpPr>
          <p:nvPr/>
        </p:nvSpPr>
        <p:spPr>
          <a:xfrm>
            <a:off x="3067050" y="1619250"/>
            <a:ext cx="1009650" cy="100965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322CCB-E567-45ED-B6EB-20BD4B004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14700" y="1866900"/>
            <a:ext cx="514350" cy="514350"/>
          </a:xfrm>
          <a:prstGeom prst="rect">
            <a:avLst/>
          </a:prstGeom>
        </p:spPr>
      </p:pic>
      <p:sp>
        <p:nvSpPr>
          <p:cNvPr id="9" name="페르소나">
            <a:extLst>
              <a:ext uri="{FF2B5EF4-FFF2-40B4-BE49-F238E27FC236}">
                <a16:creationId xmlns:a16="http://schemas.microsoft.com/office/drawing/2014/main" id="{1BAC22AC-7052-4A21-AEFE-38969B1F68E4}"/>
              </a:ext>
            </a:extLst>
          </p:cNvPr>
          <p:cNvSpPr>
            <a:spLocks noGrp="1"/>
          </p:cNvSpPr>
          <p:nvPr/>
        </p:nvSpPr>
        <p:spPr>
          <a:xfrm>
            <a:off x="2647950" y="2857500"/>
            <a:ext cx="18478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페르소나</a:t>
            </a:r>
          </a:p>
        </p:txBody>
      </p:sp>
      <p:sp>
        <p:nvSpPr>
          <p:cNvPr id="10" name="역할별 정상·예외 시나리오를 검토">
            <a:extLst>
              <a:ext uri="{FF2B5EF4-FFF2-40B4-BE49-F238E27FC236}">
                <a16:creationId xmlns:a16="http://schemas.microsoft.com/office/drawing/2014/main" id="{522AE9A0-47EF-4C0F-948D-0B5CC9304D52}"/>
              </a:ext>
            </a:extLst>
          </p:cNvPr>
          <p:cNvSpPr>
            <a:spLocks noGrp="1"/>
          </p:cNvSpPr>
          <p:nvPr/>
        </p:nvSpPr>
        <p:spPr>
          <a:xfrm>
            <a:off x="2600325" y="3457575"/>
            <a:ext cx="19526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역할별 정상·예외</a:t>
            </a:r>
          </a:p>
          <a:p>
            <a: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시나리오를 검토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61F0A4-3DFC-4013-8866-E55C082B2375}"/>
              </a:ext>
            </a:extLst>
          </p:cNvPr>
          <p:cNvSpPr>
            <a:spLocks noGrp="1"/>
          </p:cNvSpPr>
          <p:nvPr/>
        </p:nvSpPr>
        <p:spPr>
          <a:xfrm>
            <a:off x="5210175" y="1619250"/>
            <a:ext cx="1009650" cy="1009650"/>
          </a:xfrm>
          <a:prstGeom prst="ellipse">
            <a:avLst/>
          </a:prstGeom>
          <a:solidFill>
            <a:srgbClr val="183E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896547F-4ED4-4753-92AC-F1BFB751A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57825" y="1866900"/>
            <a:ext cx="514350" cy="514350"/>
          </a:xfrm>
          <a:prstGeom prst="rect">
            <a:avLst/>
          </a:prstGeom>
        </p:spPr>
      </p:pic>
      <p:sp>
        <p:nvSpPr>
          <p:cNvPr id="13" name="모듈러 모놀리스">
            <a:extLst>
              <a:ext uri="{FF2B5EF4-FFF2-40B4-BE49-F238E27FC236}">
                <a16:creationId xmlns:a16="http://schemas.microsoft.com/office/drawing/2014/main" id="{7D1B0553-CC75-4110-833A-4E4C697B24C7}"/>
              </a:ext>
            </a:extLst>
          </p:cNvPr>
          <p:cNvSpPr>
            <a:spLocks noGrp="1"/>
          </p:cNvSpPr>
          <p:nvPr/>
        </p:nvSpPr>
        <p:spPr>
          <a:xfrm>
            <a:off x="4791075" y="2857500"/>
            <a:ext cx="18478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모듈러 모놀리스</a:t>
            </a:r>
          </a:p>
        </p:txBody>
      </p:sp>
      <p:sp>
        <p:nvSpPr>
          <p:cNvPr id="14" name="DDD · 업무 경계 공개 함수로 연결">
            <a:extLst>
              <a:ext uri="{FF2B5EF4-FFF2-40B4-BE49-F238E27FC236}">
                <a16:creationId xmlns:a16="http://schemas.microsoft.com/office/drawing/2014/main" id="{37A3563C-F575-4AA2-BA4B-ED773A35B163}"/>
              </a:ext>
            </a:extLst>
          </p:cNvPr>
          <p:cNvSpPr>
            <a:spLocks noGrp="1"/>
          </p:cNvSpPr>
          <p:nvPr/>
        </p:nvSpPr>
        <p:spPr>
          <a:xfrm>
            <a:off x="4743450" y="3457575"/>
            <a:ext cx="19526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DDD · 업무 경계</a:t>
            </a:r>
          </a:p>
          <a:p>
            <a: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공개 함수로 연결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4EC8639-BCFB-4A92-81CF-B17086E342C2}"/>
              </a:ext>
            </a:extLst>
          </p:cNvPr>
          <p:cNvSpPr>
            <a:spLocks noGrp="1"/>
          </p:cNvSpPr>
          <p:nvPr/>
        </p:nvSpPr>
        <p:spPr>
          <a:xfrm>
            <a:off x="7353300" y="1619250"/>
            <a:ext cx="1009650" cy="100965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9708A4B-3773-4B21-83C6-F86BA472E1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00950" y="1866900"/>
            <a:ext cx="514350" cy="514350"/>
          </a:xfrm>
          <a:prstGeom prst="rect">
            <a:avLst/>
          </a:prstGeom>
        </p:spPr>
      </p:pic>
      <p:sp>
        <p:nvSpPr>
          <p:cNvPr id="17" name="PBT">
            <a:extLst>
              <a:ext uri="{FF2B5EF4-FFF2-40B4-BE49-F238E27FC236}">
                <a16:creationId xmlns:a16="http://schemas.microsoft.com/office/drawing/2014/main" id="{6C0C89CD-4744-4600-8E85-C04B5A050443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18478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PBT</a:t>
            </a:r>
          </a:p>
        </p:txBody>
      </p:sp>
      <p:sp>
        <p:nvSpPr>
          <p:cNvPr id="18" name="불변식 검증 실패 seed·반례 재현">
            <a:extLst>
              <a:ext uri="{FF2B5EF4-FFF2-40B4-BE49-F238E27FC236}">
                <a16:creationId xmlns:a16="http://schemas.microsoft.com/office/drawing/2014/main" id="{75A3ED3F-12B1-4ECB-AA3D-B926036DA8E9}"/>
              </a:ext>
            </a:extLst>
          </p:cNvPr>
          <p:cNvSpPr>
            <a:spLocks noGrp="1"/>
          </p:cNvSpPr>
          <p:nvPr/>
        </p:nvSpPr>
        <p:spPr>
          <a:xfrm>
            <a:off x="6886575" y="3457575"/>
            <a:ext cx="19526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불변식 검증</a:t>
            </a:r>
          </a:p>
          <a:p>
            <a:pPr algn="ctr">
              <a:defRPr sz="15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실패 seed·반례 재현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FFD5F4E6-9209-43FC-B6C2-491235B4032A}"/>
              </a:ext>
            </a:extLst>
          </p:cNvPr>
          <p:cNvSpPr>
            <a:spLocks noGrp="1"/>
          </p:cNvSpPr>
          <p:nvPr/>
        </p:nvSpPr>
        <p:spPr>
          <a:xfrm>
            <a:off x="514350" y="4229100"/>
            <a:ext cx="8096250" cy="0"/>
          </a:xfrm>
          <a:prstGeom prst="line">
            <a:avLst/>
          </a:prstGeom>
          <a:noFill/>
          <a:ln w="9525">
            <a:solidFill>
              <a:srgbClr val="D2DCD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문서 버전 보존">
            <a:extLst>
              <a:ext uri="{FF2B5EF4-FFF2-40B4-BE49-F238E27FC236}">
                <a16:creationId xmlns:a16="http://schemas.microsoft.com/office/drawing/2014/main" id="{0456811D-CD0B-4516-A080-5B39AE86750B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24288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문서 버전 보존</a:t>
            </a:r>
          </a:p>
        </p:txBody>
      </p:sp>
      <p:sp>
        <p:nvSpPr>
          <p:cNvPr id="21" name="중복 응답 방지">
            <a:extLst>
              <a:ext uri="{FF2B5EF4-FFF2-40B4-BE49-F238E27FC236}">
                <a16:creationId xmlns:a16="http://schemas.microsoft.com/office/drawing/2014/main" id="{B04B27B8-348A-4971-9A44-C1F998E7BFF3}"/>
              </a:ext>
            </a:extLst>
          </p:cNvPr>
          <p:cNvSpPr>
            <a:spLocks noGrp="1"/>
          </p:cNvSpPr>
          <p:nvPr/>
        </p:nvSpPr>
        <p:spPr>
          <a:xfrm>
            <a:off x="3505200" y="4438650"/>
            <a:ext cx="24288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중복 응답 방지</a:t>
            </a:r>
          </a:p>
        </p:txBody>
      </p:sp>
      <p:sp>
        <p:nvSpPr>
          <p:cNvPr id="22" name="잔액 합계 일치">
            <a:extLst>
              <a:ext uri="{FF2B5EF4-FFF2-40B4-BE49-F238E27FC236}">
                <a16:creationId xmlns:a16="http://schemas.microsoft.com/office/drawing/2014/main" id="{481C5F97-C085-4E63-BC19-34D77B279DAD}"/>
              </a:ext>
            </a:extLst>
          </p:cNvPr>
          <p:cNvSpPr>
            <a:spLocks noGrp="1"/>
          </p:cNvSpPr>
          <p:nvPr/>
        </p:nvSpPr>
        <p:spPr>
          <a:xfrm>
            <a:off x="6343650" y="4438650"/>
            <a:ext cx="24288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잔액 합계 일치</a:t>
            </a:r>
          </a:p>
        </p:txBody>
      </p:sp>
    </p:spTree>
    <p:extLst>
      <p:ext uri="{BB962C8B-B14F-4D97-AF65-F5344CB8AC3E}">
        <p14:creationId xmlns:p14="http://schemas.microsoft.com/office/powerpoint/2010/main" val="684647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27">
            <a:extLst>
              <a:ext uri="{FF2B5EF4-FFF2-40B4-BE49-F238E27FC236}">
                <a16:creationId xmlns:a16="http://schemas.microsoft.com/office/drawing/2014/main" id="{3229500B-7512-46CE-9788-E0293026FCAA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2" name="AI도 인정하는 부분">
            <a:extLst>
              <a:ext uri="{FF2B5EF4-FFF2-40B4-BE49-F238E27FC236}">
                <a16:creationId xmlns:a16="http://schemas.microsoft.com/office/drawing/2014/main" id="{54A39679-E93E-4560-B4A4-6F9A65799ECE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645795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SUIT"/>
                <a:ea typeface="SUIT"/>
                <a:cs typeface="SUIT"/>
              </a:defRPr>
            </a:pPr>
            <a:r>
              <a:rPr sz="3000" b="1">
                <a:solidFill>
                  <a:srgbClr val="183E35"/>
                </a:solidFill>
                <a:latin typeface="SUIT"/>
                <a:ea typeface="SUIT"/>
                <a:cs typeface="SUIT"/>
              </a:rPr>
              <a:t>AI도 인정하는 부분</a:t>
            </a:r>
          </a:p>
        </p:txBody>
      </p:sp>
      <p:sp>
        <p:nvSpPr>
          <p:cNvPr id="3" name="★ 4.5">
            <a:extLst>
              <a:ext uri="{FF2B5EF4-FFF2-40B4-BE49-F238E27FC236}">
                <a16:creationId xmlns:a16="http://schemas.microsoft.com/office/drawing/2014/main" id="{A75862B8-A2A0-43F8-AFC5-8E2CD16F8A5D}"/>
              </a:ext>
            </a:extLst>
          </p:cNvPr>
          <p:cNvSpPr>
            <a:spLocks noGrp="1"/>
          </p:cNvSpPr>
          <p:nvPr/>
        </p:nvSpPr>
        <p:spPr>
          <a:xfrm>
            <a:off x="7439025" y="371475"/>
            <a:ext cx="12668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28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defPPr>
          </a:lstStyle>
          <a:p>
            <a:pPr algn="r">
              <a:defRPr sz="28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pPr>
            <a:r>
              <a:rPr sz="2850" b="1">
                <a:solidFill>
                  <a:srgbClr val="567D89"/>
                </a:solidFill>
                <a:latin typeface="SUIT"/>
                <a:ea typeface="SUIT"/>
                <a:cs typeface="SUIT"/>
              </a:rPr>
              <a:t>★ 4.5</a:t>
            </a:r>
          </a:p>
        </p:txBody>
      </p:sp>
      <p:sp>
        <p:nvSpPr>
          <p:cNvPr id="4" name="6개 리뷰 평균">
            <a:extLst>
              <a:ext uri="{FF2B5EF4-FFF2-40B4-BE49-F238E27FC236}">
                <a16:creationId xmlns:a16="http://schemas.microsoft.com/office/drawing/2014/main" id="{C8507166-BF19-44D1-8A7F-D77B281DD6EC}"/>
              </a:ext>
            </a:extLst>
          </p:cNvPr>
          <p:cNvSpPr>
            <a:spLocks noGrp="1"/>
          </p:cNvSpPr>
          <p:nvPr/>
        </p:nvSpPr>
        <p:spPr>
          <a:xfrm>
            <a:off x="6800850" y="942975"/>
            <a:ext cx="18859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>
                <a:solidFill>
                  <a:srgbClr val="687568"/>
                </a:solidFill>
                <a:latin typeface="SUIT"/>
                <a:ea typeface="SUIT"/>
                <a:cs typeface="SUIT"/>
              </a:defRPr>
            </a:defPPr>
          </a:lstStyle>
          <a:p>
            <a:pPr algn="r">
              <a:defRPr sz="1050">
                <a:solidFill>
                  <a:srgbClr val="687568"/>
                </a:solidFill>
                <a:latin typeface="SUIT"/>
                <a:ea typeface="SUIT"/>
                <a:cs typeface="SUIT"/>
              </a:defRPr>
            </a:pPr>
            <a:r>
              <a:rPr sz="1050">
                <a:solidFill>
                  <a:srgbClr val="687568"/>
                </a:solidFill>
                <a:latin typeface="SUIT"/>
                <a:ea typeface="SUIT"/>
                <a:cs typeface="SUIT"/>
              </a:rPr>
              <a:t>6개 리뷰 평균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0D673EF-1CB8-421B-973F-952FF0D7105D}"/>
              </a:ext>
            </a:extLst>
          </p:cNvPr>
          <p:cNvSpPr>
            <a:spLocks noGrp="1"/>
          </p:cNvSpPr>
          <p:nvPr/>
        </p:nvSpPr>
        <p:spPr>
          <a:xfrm>
            <a:off x="495300" y="1295400"/>
            <a:ext cx="260985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668">
            <a:solidFill>
              <a:srgbClr val="D9E1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★ 5.0">
            <a:extLst>
              <a:ext uri="{FF2B5EF4-FFF2-40B4-BE49-F238E27FC236}">
                <a16:creationId xmlns:a16="http://schemas.microsoft.com/office/drawing/2014/main" id="{13449358-26F5-435B-9615-8FF85C5D9D09}"/>
              </a:ext>
            </a:extLst>
          </p:cNvPr>
          <p:cNvSpPr>
            <a:spLocks noGrp="1"/>
          </p:cNvSpPr>
          <p:nvPr/>
        </p:nvSpPr>
        <p:spPr>
          <a:xfrm>
            <a:off x="657225" y="14097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pPr>
            <a:r>
              <a:rPr sz="1950" b="1">
                <a:solidFill>
                  <a:srgbClr val="567D89"/>
                </a:solidFill>
                <a:latin typeface="SUIT"/>
                <a:ea typeface="SUIT"/>
                <a:cs typeface="SUIT"/>
              </a:rPr>
              <a:t>★ 5.0</a:t>
            </a:r>
          </a:p>
        </p:txBody>
      </p:sp>
      <p:sp>
        <p:nvSpPr>
          <p:cNvPr id="7" name="“명부랑 전화 안내, 회의록이 한곳에서 이어지니 가게 문 닫고 같은 내용을 다시 옮겨 적을 일이 줄겠어요.”">
            <a:extLst>
              <a:ext uri="{FF2B5EF4-FFF2-40B4-BE49-F238E27FC236}">
                <a16:creationId xmlns:a16="http://schemas.microsoft.com/office/drawing/2014/main" id="{AA2F3FA9-255E-44AA-80D5-5F2ED166449C}"/>
              </a:ext>
            </a:extLst>
          </p:cNvPr>
          <p:cNvSpPr>
            <a:spLocks noGrp="1"/>
          </p:cNvSpPr>
          <p:nvPr/>
        </p:nvSpPr>
        <p:spPr>
          <a:xfrm>
            <a:off x="657225" y="1790700"/>
            <a:ext cx="228600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“명부랑 전화 안내, 회의록이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한곳에서 이어지니 가게 문 닫고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같은 내용을 다시 옮겨 적을 일이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줄겠어요.”</a:t>
            </a:r>
          </a:p>
        </p:txBody>
      </p:sp>
      <p:sp>
        <p:nvSpPr>
          <p:cNvPr id="8" name="이정호">
            <a:extLst>
              <a:ext uri="{FF2B5EF4-FFF2-40B4-BE49-F238E27FC236}">
                <a16:creationId xmlns:a16="http://schemas.microsoft.com/office/drawing/2014/main" id="{E3F7716A-7707-4F5F-B4B4-9AD97FD41A1D}"/>
              </a:ext>
            </a:extLst>
          </p:cNvPr>
          <p:cNvSpPr>
            <a:spLocks noGrp="1"/>
          </p:cNvSpPr>
          <p:nvPr/>
        </p:nvSpPr>
        <p:spPr>
          <a:xfrm>
            <a:off x="657225" y="2647950"/>
            <a:ext cx="8096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defPPr>
          </a:lstStyle>
          <a:p>
            <a: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pPr>
            <a:r>
              <a: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rPr>
              <a:t>이정호</a:t>
            </a:r>
          </a:p>
        </p:txBody>
      </p:sp>
      <p:sp>
        <p:nvSpPr>
          <p:cNvPr id="9" name="59세 · 총무">
            <a:extLst>
              <a:ext uri="{FF2B5EF4-FFF2-40B4-BE49-F238E27FC236}">
                <a16:creationId xmlns:a16="http://schemas.microsoft.com/office/drawing/2014/main" id="{46506C4F-6CFE-4C6A-9EC5-E5914AACB0C9}"/>
              </a:ext>
            </a:extLst>
          </p:cNvPr>
          <p:cNvSpPr>
            <a:spLocks noGrp="1"/>
          </p:cNvSpPr>
          <p:nvPr/>
        </p:nvSpPr>
        <p:spPr>
          <a:xfrm>
            <a:off x="1457325" y="268605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defPPr>
          </a:lstStyle>
          <a:p>
            <a: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pPr>
            <a:r>
              <a:rPr sz="938">
                <a:solidFill>
                  <a:srgbClr val="687568"/>
                </a:solidFill>
                <a:latin typeface="SUIT"/>
                <a:ea typeface="SUIT"/>
                <a:cs typeface="SUIT"/>
              </a:rPr>
              <a:t>59세 · 총무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BFEB098-2470-4D12-A011-D82B5CCADC24}"/>
              </a:ext>
            </a:extLst>
          </p:cNvPr>
          <p:cNvSpPr>
            <a:spLocks noGrp="1"/>
          </p:cNvSpPr>
          <p:nvPr/>
        </p:nvSpPr>
        <p:spPr>
          <a:xfrm>
            <a:off x="3276600" y="1295400"/>
            <a:ext cx="260985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668">
            <a:solidFill>
              <a:srgbClr val="D9E1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★ 4.5">
            <a:extLst>
              <a:ext uri="{FF2B5EF4-FFF2-40B4-BE49-F238E27FC236}">
                <a16:creationId xmlns:a16="http://schemas.microsoft.com/office/drawing/2014/main" id="{157F5FD2-0C83-4AD4-9C7F-B2247D43C330}"/>
              </a:ext>
            </a:extLst>
          </p:cNvPr>
          <p:cNvSpPr>
            <a:spLocks noGrp="1"/>
          </p:cNvSpPr>
          <p:nvPr/>
        </p:nvSpPr>
        <p:spPr>
          <a:xfrm>
            <a:off x="3438525" y="14097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pPr>
            <a:r>
              <a:rPr sz="1950" b="1">
                <a:solidFill>
                  <a:srgbClr val="567D89"/>
                </a:solidFill>
                <a:latin typeface="SUIT"/>
                <a:ea typeface="SUIT"/>
                <a:cs typeface="SUIT"/>
              </a:rPr>
              <a:t>★ 4.5</a:t>
            </a:r>
          </a:p>
        </p:txBody>
      </p:sp>
      <p:sp>
        <p:nvSpPr>
          <p:cNvPr id="12" name="“어떤 근거로 결정했는지 다음 회장에게도 보여줄 수 있어 든든한데, 처음 익힐 때는 도움이 좀 필요하겠어요.”">
            <a:extLst>
              <a:ext uri="{FF2B5EF4-FFF2-40B4-BE49-F238E27FC236}">
                <a16:creationId xmlns:a16="http://schemas.microsoft.com/office/drawing/2014/main" id="{A1CF3565-8CEB-49DB-A3AC-4CD37E7C98CB}"/>
              </a:ext>
            </a:extLst>
          </p:cNvPr>
          <p:cNvSpPr>
            <a:spLocks noGrp="1"/>
          </p:cNvSpPr>
          <p:nvPr/>
        </p:nvSpPr>
        <p:spPr>
          <a:xfrm>
            <a:off x="3438525" y="1790700"/>
            <a:ext cx="228600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“어떤 근거로 결정했는지 다음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회장에게도 보여줄 수 있어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든든한데, 처음 익힐 때는 도움이 좀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필요하겠어요.”</a:t>
            </a:r>
          </a:p>
        </p:txBody>
      </p:sp>
      <p:sp>
        <p:nvSpPr>
          <p:cNvPr id="13" name="이영수">
            <a:extLst>
              <a:ext uri="{FF2B5EF4-FFF2-40B4-BE49-F238E27FC236}">
                <a16:creationId xmlns:a16="http://schemas.microsoft.com/office/drawing/2014/main" id="{79C772F1-1BB2-49AF-8DFC-7D748F83819A}"/>
              </a:ext>
            </a:extLst>
          </p:cNvPr>
          <p:cNvSpPr>
            <a:spLocks noGrp="1"/>
          </p:cNvSpPr>
          <p:nvPr/>
        </p:nvSpPr>
        <p:spPr>
          <a:xfrm>
            <a:off x="3438525" y="2647950"/>
            <a:ext cx="8096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defPPr>
          </a:lstStyle>
          <a:p>
            <a: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pPr>
            <a:r>
              <a: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rPr>
              <a:t>이영수</a:t>
            </a:r>
          </a:p>
        </p:txBody>
      </p:sp>
      <p:sp>
        <p:nvSpPr>
          <p:cNvPr id="14" name="74세 · 회장">
            <a:extLst>
              <a:ext uri="{FF2B5EF4-FFF2-40B4-BE49-F238E27FC236}">
                <a16:creationId xmlns:a16="http://schemas.microsoft.com/office/drawing/2014/main" id="{B6D582E2-2A52-432E-AC30-77E67D98D844}"/>
              </a:ext>
            </a:extLst>
          </p:cNvPr>
          <p:cNvSpPr>
            <a:spLocks noGrp="1"/>
          </p:cNvSpPr>
          <p:nvPr/>
        </p:nvSpPr>
        <p:spPr>
          <a:xfrm>
            <a:off x="4238625" y="268605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defPPr>
          </a:lstStyle>
          <a:p>
            <a: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pPr>
            <a:r>
              <a:rPr sz="938">
                <a:solidFill>
                  <a:srgbClr val="687568"/>
                </a:solidFill>
                <a:latin typeface="SUIT"/>
                <a:ea typeface="SUIT"/>
                <a:cs typeface="SUIT"/>
              </a:rPr>
              <a:t>74세 · 회장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478BF81-BB2E-45EA-9B84-B434D2150CD2}"/>
              </a:ext>
            </a:extLst>
          </p:cNvPr>
          <p:cNvSpPr>
            <a:spLocks noGrp="1"/>
          </p:cNvSpPr>
          <p:nvPr/>
        </p:nvSpPr>
        <p:spPr>
          <a:xfrm>
            <a:off x="6057900" y="1295400"/>
            <a:ext cx="260985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668">
            <a:solidFill>
              <a:srgbClr val="D9E1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★ 4.5">
            <a:extLst>
              <a:ext uri="{FF2B5EF4-FFF2-40B4-BE49-F238E27FC236}">
                <a16:creationId xmlns:a16="http://schemas.microsoft.com/office/drawing/2014/main" id="{3D5587DA-4FAF-48CE-9F0B-DF9CA931BA67}"/>
              </a:ext>
            </a:extLst>
          </p:cNvPr>
          <p:cNvSpPr>
            <a:spLocks noGrp="1"/>
          </p:cNvSpPr>
          <p:nvPr/>
        </p:nvSpPr>
        <p:spPr>
          <a:xfrm>
            <a:off x="6219825" y="14097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pPr>
            <a:r>
              <a:rPr sz="1950" b="1">
                <a:solidFill>
                  <a:srgbClr val="567D89"/>
                </a:solidFill>
                <a:latin typeface="SUIT"/>
                <a:ea typeface="SUIT"/>
                <a:cs typeface="SUIT"/>
              </a:rPr>
              <a:t>★ 4.5</a:t>
            </a:r>
          </a:p>
        </p:txBody>
      </p:sp>
      <p:sp>
        <p:nvSpPr>
          <p:cNvPr id="17" name="“휴대폰으로 자료를 보고 참석 여부와 의견을 따로 남길 수 있으니, 회의에 못 가도 제 뜻은 전할 수 있겠어요.”">
            <a:extLst>
              <a:ext uri="{FF2B5EF4-FFF2-40B4-BE49-F238E27FC236}">
                <a16:creationId xmlns:a16="http://schemas.microsoft.com/office/drawing/2014/main" id="{B5F89D6F-7778-4C01-A81D-78C5515C6B5E}"/>
              </a:ext>
            </a:extLst>
          </p:cNvPr>
          <p:cNvSpPr>
            <a:spLocks noGrp="1"/>
          </p:cNvSpPr>
          <p:nvPr/>
        </p:nvSpPr>
        <p:spPr>
          <a:xfrm>
            <a:off x="6219825" y="1790700"/>
            <a:ext cx="228600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“휴대폰으로 자료를 보고 참석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여부와 의견을 따로 남길 수 있으니,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회의에 못 가도 제 뜻은 전할 수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있겠어요.”</a:t>
            </a:r>
          </a:p>
        </p:txBody>
      </p:sp>
      <p:sp>
        <p:nvSpPr>
          <p:cNvPr id="18" name="이서연">
            <a:extLst>
              <a:ext uri="{FF2B5EF4-FFF2-40B4-BE49-F238E27FC236}">
                <a16:creationId xmlns:a16="http://schemas.microsoft.com/office/drawing/2014/main" id="{33175D5D-0A2E-473E-9E70-7A68C704F5B8}"/>
              </a:ext>
            </a:extLst>
          </p:cNvPr>
          <p:cNvSpPr>
            <a:spLocks noGrp="1"/>
          </p:cNvSpPr>
          <p:nvPr/>
        </p:nvSpPr>
        <p:spPr>
          <a:xfrm>
            <a:off x="6219825" y="2647950"/>
            <a:ext cx="8096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defPPr>
          </a:lstStyle>
          <a:p>
            <a: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pPr>
            <a:r>
              <a: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rPr>
              <a:t>이서연</a:t>
            </a:r>
          </a:p>
        </p:txBody>
      </p:sp>
      <p:sp>
        <p:nvSpPr>
          <p:cNvPr id="19" name="42세 · 종원">
            <a:extLst>
              <a:ext uri="{FF2B5EF4-FFF2-40B4-BE49-F238E27FC236}">
                <a16:creationId xmlns:a16="http://schemas.microsoft.com/office/drawing/2014/main" id="{052BC8A7-0DCF-4A7A-BD35-1242A51BFF2D}"/>
              </a:ext>
            </a:extLst>
          </p:cNvPr>
          <p:cNvSpPr>
            <a:spLocks noGrp="1"/>
          </p:cNvSpPr>
          <p:nvPr/>
        </p:nvSpPr>
        <p:spPr>
          <a:xfrm>
            <a:off x="7019925" y="268605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defPPr>
          </a:lstStyle>
          <a:p>
            <a: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pPr>
            <a:r>
              <a:rPr sz="938">
                <a:solidFill>
                  <a:srgbClr val="687568"/>
                </a:solidFill>
                <a:latin typeface="SUIT"/>
                <a:ea typeface="SUIT"/>
                <a:cs typeface="SUIT"/>
              </a:rPr>
              <a:t>42세 · 종원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AB7FE2D-D3D1-4F07-951C-2F66C259EEC7}"/>
              </a:ext>
            </a:extLst>
          </p:cNvPr>
          <p:cNvSpPr>
            <a:spLocks noGrp="1"/>
          </p:cNvSpPr>
          <p:nvPr/>
        </p:nvSpPr>
        <p:spPr>
          <a:xfrm>
            <a:off x="495300" y="3048000"/>
            <a:ext cx="260985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668">
            <a:solidFill>
              <a:srgbClr val="D9E1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★ 4.0">
            <a:extLst>
              <a:ext uri="{FF2B5EF4-FFF2-40B4-BE49-F238E27FC236}">
                <a16:creationId xmlns:a16="http://schemas.microsoft.com/office/drawing/2014/main" id="{548BD9E3-D760-48BF-8FE1-DA5F1A616E9B}"/>
              </a:ext>
            </a:extLst>
          </p:cNvPr>
          <p:cNvSpPr>
            <a:spLocks noGrp="1"/>
          </p:cNvSpPr>
          <p:nvPr/>
        </p:nvSpPr>
        <p:spPr>
          <a:xfrm>
            <a:off x="657225" y="31623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pPr>
            <a:r>
              <a:rPr sz="1950" b="1">
                <a:solidFill>
                  <a:srgbClr val="567D89"/>
                </a:solidFill>
                <a:latin typeface="SUIT"/>
                <a:ea typeface="SUIT"/>
                <a:cs typeface="SUIT"/>
              </a:rPr>
              <a:t>★ 4.0</a:t>
            </a:r>
          </a:p>
        </p:txBody>
      </p:sp>
      <p:sp>
        <p:nvSpPr>
          <p:cNvPr id="22" name="“가입 안 해도 총무가 제 말을 기록해주는 건 좋은데, 중요한 안건은 계속 전화로 설명해줬으면 해요.”">
            <a:extLst>
              <a:ext uri="{FF2B5EF4-FFF2-40B4-BE49-F238E27FC236}">
                <a16:creationId xmlns:a16="http://schemas.microsoft.com/office/drawing/2014/main" id="{D9AD0036-5447-4F94-AF54-E042C776356E}"/>
              </a:ext>
            </a:extLst>
          </p:cNvPr>
          <p:cNvSpPr>
            <a:spLocks noGrp="1"/>
          </p:cNvSpPr>
          <p:nvPr/>
        </p:nvSpPr>
        <p:spPr>
          <a:xfrm>
            <a:off x="657225" y="3543300"/>
            <a:ext cx="228600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“가입 안 해도 총무가 제 말을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기록해주는 건 좋은데, 중요한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안건은 계속 전화로 설명해줬으면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해요.”</a:t>
            </a:r>
          </a:p>
        </p:txBody>
      </p:sp>
      <p:sp>
        <p:nvSpPr>
          <p:cNvPr id="23" name="이순자">
            <a:extLst>
              <a:ext uri="{FF2B5EF4-FFF2-40B4-BE49-F238E27FC236}">
                <a16:creationId xmlns:a16="http://schemas.microsoft.com/office/drawing/2014/main" id="{57DADBCA-734F-4069-871C-90E9CDBFACF6}"/>
              </a:ext>
            </a:extLst>
          </p:cNvPr>
          <p:cNvSpPr>
            <a:spLocks noGrp="1"/>
          </p:cNvSpPr>
          <p:nvPr/>
        </p:nvSpPr>
        <p:spPr>
          <a:xfrm>
            <a:off x="657225" y="4400550"/>
            <a:ext cx="8096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defPPr>
          </a:lstStyle>
          <a:p>
            <a: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pPr>
            <a:r>
              <a: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rPr>
              <a:t>이순자</a:t>
            </a:r>
          </a:p>
        </p:txBody>
      </p:sp>
      <p:sp>
        <p:nvSpPr>
          <p:cNvPr id="24" name="81세 · 종원">
            <a:extLst>
              <a:ext uri="{FF2B5EF4-FFF2-40B4-BE49-F238E27FC236}">
                <a16:creationId xmlns:a16="http://schemas.microsoft.com/office/drawing/2014/main" id="{BFA2C691-3BE7-4A7F-9750-F921ED3E0FE9}"/>
              </a:ext>
            </a:extLst>
          </p:cNvPr>
          <p:cNvSpPr>
            <a:spLocks noGrp="1"/>
          </p:cNvSpPr>
          <p:nvPr/>
        </p:nvSpPr>
        <p:spPr>
          <a:xfrm>
            <a:off x="1457325" y="443865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defPPr>
          </a:lstStyle>
          <a:p>
            <a: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pPr>
            <a:r>
              <a:rPr sz="938">
                <a:solidFill>
                  <a:srgbClr val="687568"/>
                </a:solidFill>
                <a:latin typeface="SUIT"/>
                <a:ea typeface="SUIT"/>
                <a:cs typeface="SUIT"/>
              </a:rPr>
              <a:t>81세 · 종원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EE9123A-26B7-4B37-88AB-5E455CD95E55}"/>
              </a:ext>
            </a:extLst>
          </p:cNvPr>
          <p:cNvSpPr>
            <a:spLocks noGrp="1"/>
          </p:cNvSpPr>
          <p:nvPr/>
        </p:nvSpPr>
        <p:spPr>
          <a:xfrm>
            <a:off x="3276600" y="3048000"/>
            <a:ext cx="260985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668">
            <a:solidFill>
              <a:srgbClr val="D9E1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★ 4.5">
            <a:extLst>
              <a:ext uri="{FF2B5EF4-FFF2-40B4-BE49-F238E27FC236}">
                <a16:creationId xmlns:a16="http://schemas.microsoft.com/office/drawing/2014/main" id="{AA304622-D30F-4759-B538-06D0BAB56B44}"/>
              </a:ext>
            </a:extLst>
          </p:cNvPr>
          <p:cNvSpPr>
            <a:spLocks noGrp="1"/>
          </p:cNvSpPr>
          <p:nvPr/>
        </p:nvSpPr>
        <p:spPr>
          <a:xfrm>
            <a:off x="3438525" y="31623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pPr>
            <a:r>
              <a:rPr sz="1950" b="1">
                <a:solidFill>
                  <a:srgbClr val="567D89"/>
                </a:solidFill>
                <a:latin typeface="SUIT"/>
                <a:ea typeface="SUIT"/>
                <a:cs typeface="SUIT"/>
              </a:rPr>
              <a:t>★ 4.5</a:t>
            </a:r>
          </a:p>
        </p:txBody>
      </p:sp>
      <p:sp>
        <p:nvSpPr>
          <p:cNvPr id="27" name="“회의록 원본과 정정 이유를 직접 확인할 수 있으니, 말이 엇갈려도 어떤 기록부터 봐야 할지는 알겠네요.”">
            <a:extLst>
              <a:ext uri="{FF2B5EF4-FFF2-40B4-BE49-F238E27FC236}">
                <a16:creationId xmlns:a16="http://schemas.microsoft.com/office/drawing/2014/main" id="{325D9E59-59BF-4607-BEB4-F4110D126A72}"/>
              </a:ext>
            </a:extLst>
          </p:cNvPr>
          <p:cNvSpPr>
            <a:spLocks noGrp="1"/>
          </p:cNvSpPr>
          <p:nvPr/>
        </p:nvSpPr>
        <p:spPr>
          <a:xfrm>
            <a:off x="3438525" y="3543300"/>
            <a:ext cx="228600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“회의록 원본과 정정 이유를 직접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확인할 수 있으니, 말이 엇갈려도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어떤 기록부터 봐야 할지는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알겠네요.”</a:t>
            </a:r>
          </a:p>
        </p:txBody>
      </p:sp>
      <p:sp>
        <p:nvSpPr>
          <p:cNvPr id="28" name="이상훈">
            <a:extLst>
              <a:ext uri="{FF2B5EF4-FFF2-40B4-BE49-F238E27FC236}">
                <a16:creationId xmlns:a16="http://schemas.microsoft.com/office/drawing/2014/main" id="{A2B316D5-ACF5-4C7F-901A-6759E020890E}"/>
              </a:ext>
            </a:extLst>
          </p:cNvPr>
          <p:cNvSpPr>
            <a:spLocks noGrp="1"/>
          </p:cNvSpPr>
          <p:nvPr/>
        </p:nvSpPr>
        <p:spPr>
          <a:xfrm>
            <a:off x="3438525" y="4400550"/>
            <a:ext cx="8096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defPPr>
          </a:lstStyle>
          <a:p>
            <a: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pPr>
            <a:r>
              <a: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rPr>
              <a:t>이상훈</a:t>
            </a:r>
          </a:p>
        </p:txBody>
      </p:sp>
      <p:sp>
        <p:nvSpPr>
          <p:cNvPr id="29" name="55세 · 종원">
            <a:extLst>
              <a:ext uri="{FF2B5EF4-FFF2-40B4-BE49-F238E27FC236}">
                <a16:creationId xmlns:a16="http://schemas.microsoft.com/office/drawing/2014/main" id="{A7DA1690-80AF-4BD6-9ED9-DF0234F33B5B}"/>
              </a:ext>
            </a:extLst>
          </p:cNvPr>
          <p:cNvSpPr>
            <a:spLocks noGrp="1"/>
          </p:cNvSpPr>
          <p:nvPr/>
        </p:nvSpPr>
        <p:spPr>
          <a:xfrm>
            <a:off x="4238625" y="443865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defPPr>
          </a:lstStyle>
          <a:p>
            <a: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pPr>
            <a:r>
              <a:rPr sz="938">
                <a:solidFill>
                  <a:srgbClr val="687568"/>
                </a:solidFill>
                <a:latin typeface="SUIT"/>
                <a:ea typeface="SUIT"/>
                <a:cs typeface="SUIT"/>
              </a:rPr>
              <a:t>55세 · 종원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08E53AC-1CD5-4509-84B8-CBD71191ECF0}"/>
              </a:ext>
            </a:extLst>
          </p:cNvPr>
          <p:cNvSpPr>
            <a:spLocks noGrp="1"/>
          </p:cNvSpPr>
          <p:nvPr/>
        </p:nvSpPr>
        <p:spPr>
          <a:xfrm>
            <a:off x="6057900" y="3048000"/>
            <a:ext cx="260985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668">
            <a:solidFill>
              <a:srgbClr val="D9E1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★ 4.5">
            <a:extLst>
              <a:ext uri="{FF2B5EF4-FFF2-40B4-BE49-F238E27FC236}">
                <a16:creationId xmlns:a16="http://schemas.microsoft.com/office/drawing/2014/main" id="{0BB57A5D-1E5E-4317-BF84-959C833D1BFB}"/>
              </a:ext>
            </a:extLst>
          </p:cNvPr>
          <p:cNvSpPr>
            <a:spLocks noGrp="1"/>
          </p:cNvSpPr>
          <p:nvPr/>
        </p:nvSpPr>
        <p:spPr>
          <a:xfrm>
            <a:off x="6219825" y="31623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950" b="1">
                <a:solidFill>
                  <a:srgbClr val="567D89"/>
                </a:solidFill>
                <a:latin typeface="SUIT"/>
                <a:ea typeface="SUIT"/>
                <a:cs typeface="SUIT"/>
              </a:defRPr>
            </a:pPr>
            <a:r>
              <a:rPr sz="1950" b="1">
                <a:solidFill>
                  <a:srgbClr val="567D89"/>
                </a:solidFill>
                <a:latin typeface="SUIT"/>
                <a:ea typeface="SUIT"/>
                <a:cs typeface="SUIT"/>
              </a:rPr>
              <a:t>★ 4.5</a:t>
            </a:r>
          </a:p>
        </p:txBody>
      </p:sp>
      <p:sp>
        <p:nvSpPr>
          <p:cNvPr id="32" name="“신청 목적과 빠진 서류가 정리돼 있으면 상담을 시작하기 수월하고, 원본과 위임 관계 확인에 더 집중할 수 있겠어요.”">
            <a:extLst>
              <a:ext uri="{FF2B5EF4-FFF2-40B4-BE49-F238E27FC236}">
                <a16:creationId xmlns:a16="http://schemas.microsoft.com/office/drawing/2014/main" id="{31F7BAD3-EDA0-4FDF-B356-3F5D63B37C5D}"/>
              </a:ext>
            </a:extLst>
          </p:cNvPr>
          <p:cNvSpPr>
            <a:spLocks noGrp="1"/>
          </p:cNvSpPr>
          <p:nvPr/>
        </p:nvSpPr>
        <p:spPr>
          <a:xfrm>
            <a:off x="6219825" y="3543300"/>
            <a:ext cx="228600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defPPr>
          </a:lstStyle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“신청 목적과 빠진 서류가 정리돼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있으면 상담을 시작하기 수월하고,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원본과 위임 관계 확인에 더 집중할</a:t>
            </a:r>
          </a:p>
          <a:p>
            <a:pPr algn="l">
              <a:defRPr sz="1313">
                <a:solidFill>
                  <a:srgbClr val="354B50"/>
                </a:solidFill>
                <a:latin typeface="SUIT"/>
                <a:ea typeface="SUIT"/>
                <a:cs typeface="SUIT"/>
              </a:defRPr>
            </a:pPr>
            <a:r>
              <a:rPr sz="1313">
                <a:solidFill>
                  <a:srgbClr val="354B50"/>
                </a:solidFill>
                <a:latin typeface="SUIT"/>
                <a:ea typeface="SUIT"/>
                <a:cs typeface="SUIT"/>
              </a:rPr>
              <a:t>수 있겠어요.”</a:t>
            </a:r>
          </a:p>
        </p:txBody>
      </p:sp>
      <p:sp>
        <p:nvSpPr>
          <p:cNvPr id="33" name="정수민">
            <a:extLst>
              <a:ext uri="{FF2B5EF4-FFF2-40B4-BE49-F238E27FC236}">
                <a16:creationId xmlns:a16="http://schemas.microsoft.com/office/drawing/2014/main" id="{D6E80AAC-A1B4-4C28-B163-AC9F1640E4AC}"/>
              </a:ext>
            </a:extLst>
          </p:cNvPr>
          <p:cNvSpPr>
            <a:spLocks noGrp="1"/>
          </p:cNvSpPr>
          <p:nvPr/>
        </p:nvSpPr>
        <p:spPr>
          <a:xfrm>
            <a:off x="6219825" y="4400550"/>
            <a:ext cx="8096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defPPr>
          </a:lstStyle>
          <a:p>
            <a:pPr algn="l">
              <a:def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defRPr>
            </a:pPr>
            <a:r>
              <a:rPr sz="1388">
                <a:solidFill>
                  <a:srgbClr val="173F49"/>
                </a:solidFill>
                <a:latin typeface="SUIT SemiBold"/>
                <a:ea typeface="SUIT SemiBold"/>
                <a:cs typeface="SUIT SemiBold"/>
              </a:rPr>
              <a:t>정수민</a:t>
            </a:r>
          </a:p>
        </p:txBody>
      </p:sp>
      <p:sp>
        <p:nvSpPr>
          <p:cNvPr id="34" name="토지 등기 법무사">
            <a:extLst>
              <a:ext uri="{FF2B5EF4-FFF2-40B4-BE49-F238E27FC236}">
                <a16:creationId xmlns:a16="http://schemas.microsoft.com/office/drawing/2014/main" id="{B9E9CE9E-BDFC-451F-90E9-C1317AD725AF}"/>
              </a:ext>
            </a:extLst>
          </p:cNvPr>
          <p:cNvSpPr>
            <a:spLocks noGrp="1"/>
          </p:cNvSpPr>
          <p:nvPr/>
        </p:nvSpPr>
        <p:spPr>
          <a:xfrm>
            <a:off x="7019925" y="443865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defPPr>
          </a:lstStyle>
          <a:p>
            <a:pPr algn="r">
              <a:defRPr sz="938">
                <a:solidFill>
                  <a:srgbClr val="687568"/>
                </a:solidFill>
                <a:latin typeface="SUIT"/>
                <a:ea typeface="SUIT"/>
                <a:cs typeface="SUIT"/>
              </a:defRPr>
            </a:pPr>
            <a:r>
              <a:rPr sz="938">
                <a:solidFill>
                  <a:srgbClr val="687568"/>
                </a:solidFill>
                <a:latin typeface="SUIT"/>
                <a:ea typeface="SUIT"/>
                <a:cs typeface="SUIT"/>
              </a:rPr>
              <a:t>토지 등기 법무사</a:t>
            </a:r>
          </a:p>
        </p:txBody>
      </p:sp>
    </p:spTree>
    <p:extLst>
      <p:ext uri="{BB962C8B-B14F-4D97-AF65-F5344CB8AC3E}">
        <p14:creationId xmlns:p14="http://schemas.microsoft.com/office/powerpoint/2010/main" val="516187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B768E3D-AA00-4A4F-9386-49238D3B5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7400338-6AD2-4203-A764-7CC7E15D09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9">
              <a:alpha val="78000"/>
            </a:srgbClr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BA2820-8182-4455-BE5F-F157F4FF62E3}"/>
              </a:ext>
            </a:extLst>
          </p:cNvPr>
          <p:cNvSpPr>
            <a:spLocks noGrp="1"/>
          </p:cNvSpPr>
          <p:nvPr/>
        </p:nvSpPr>
        <p:spPr>
          <a:xfrm>
            <a:off x="476250" y="1495425"/>
            <a:ext cx="8191500" cy="2115340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4B4CF5-6974-4759-8B79-E4AF20367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" y="1495425"/>
            <a:ext cx="8191500" cy="211534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48C563E-BBBA-4729-ACEB-288B9D317124}"/>
              </a:ext>
            </a:extLst>
          </p:cNvPr>
          <p:cNvSpPr>
            <a:spLocks noGrp="1"/>
          </p:cNvSpPr>
          <p:nvPr/>
        </p:nvSpPr>
        <p:spPr>
          <a:xfrm>
            <a:off x="1123950" y="3848100"/>
            <a:ext cx="7524750" cy="394261"/>
          </a:xfrm>
          <a:prstGeom prst="rect">
            <a:avLst/>
          </a:prstGeom>
          <a:solidFill>
            <a:srgbClr val="18181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AA51AE-9307-4E80-A16D-497264CAA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23950" y="3848100"/>
            <a:ext cx="7524750" cy="39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84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e More">
            <a:extLst>
              <a:ext uri="{FF2B5EF4-FFF2-40B4-BE49-F238E27FC236}">
                <a16:creationId xmlns:a16="http://schemas.microsoft.com/office/drawing/2014/main" id="{04BFB40D-EAD1-4FA1-A69F-34C1E5B86252}"/>
              </a:ext>
            </a:extLst>
          </p:cNvPr>
          <p:cNvSpPr>
            <a:spLocks noGrp="1"/>
          </p:cNvSpPr>
          <p:nvPr/>
        </p:nvSpPr>
        <p:spPr>
          <a:xfrm>
            <a:off x="619125" y="1095375"/>
            <a:ext cx="79629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60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6600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One More</a:t>
            </a:r>
          </a:p>
        </p:txBody>
      </p:sp>
      <p:sp>
        <p:nvSpPr>
          <p:cNvPr id="2" name="Thing">
            <a:extLst>
              <a:ext uri="{FF2B5EF4-FFF2-40B4-BE49-F238E27FC236}">
                <a16:creationId xmlns:a16="http://schemas.microsoft.com/office/drawing/2014/main" id="{9A3EC96F-CCCD-4C3F-B4C1-35C02EE0BCA8}"/>
              </a:ext>
            </a:extLst>
          </p:cNvPr>
          <p:cNvSpPr>
            <a:spLocks noGrp="1"/>
          </p:cNvSpPr>
          <p:nvPr/>
        </p:nvSpPr>
        <p:spPr>
          <a:xfrm>
            <a:off x="590550" y="2390775"/>
            <a:ext cx="7991475" cy="1266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72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7725" b="1">
                <a:solidFill>
                  <a:srgbClr val="F5F2E9"/>
                </a:solidFill>
                <a:latin typeface="Pretendard"/>
                <a:ea typeface="Pretendard"/>
                <a:cs typeface="Pretendard"/>
              </a:defRPr>
            </a:pPr>
            <a:r>
              <a:rPr sz="7725" b="1">
                <a:solidFill>
                  <a:srgbClr val="F5F2E9"/>
                </a:solidFill>
                <a:latin typeface="Pretendard"/>
                <a:ea typeface="Pretendard"/>
                <a:cs typeface="Pretendard"/>
              </a:rPr>
              <a:t>Thing</a:t>
            </a:r>
          </a:p>
        </p:txBody>
      </p:sp>
    </p:spTree>
    <p:extLst>
      <p:ext uri="{BB962C8B-B14F-4D97-AF65-F5344CB8AC3E}">
        <p14:creationId xmlns:p14="http://schemas.microsoft.com/office/powerpoint/2010/main" val="2196222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ne More Thing">
            <a:extLst>
              <a:ext uri="{FF2B5EF4-FFF2-40B4-BE49-F238E27FC236}">
                <a16:creationId xmlns:a16="http://schemas.microsoft.com/office/drawing/2014/main" id="{EB5EFA2F-D72F-4870-8D81-C274E139B23B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One More Thing</a:t>
            </a:r>
          </a:p>
        </p:txBody>
      </p:sp>
      <p:sp>
        <p:nvSpPr>
          <p:cNvPr id="2" name="For Agents">
            <a:extLst>
              <a:ext uri="{FF2B5EF4-FFF2-40B4-BE49-F238E27FC236}">
                <a16:creationId xmlns:a16="http://schemas.microsoft.com/office/drawing/2014/main" id="{297C86AD-B26B-4BCD-B40B-FA753FA4BA71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For Agents</a:t>
            </a:r>
          </a:p>
        </p:txBody>
      </p:sp>
      <p:sp>
        <p:nvSpPr>
          <p:cNvPr id="3" name="29">
            <a:extLst>
              <a:ext uri="{FF2B5EF4-FFF2-40B4-BE49-F238E27FC236}">
                <a16:creationId xmlns:a16="http://schemas.microsoft.com/office/drawing/2014/main" id="{2E5DBFB0-BB43-45CC-BB86-224B6B02B4B1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0A1E321-44E1-4FBF-A6B2-B1F441928F5D}"/>
              </a:ext>
            </a:extLst>
          </p:cNvPr>
          <p:cNvSpPr>
            <a:spLocks noGrp="1"/>
          </p:cNvSpPr>
          <p:nvPr/>
        </p:nvSpPr>
        <p:spPr>
          <a:xfrm>
            <a:off x="1009650" y="1733550"/>
            <a:ext cx="1447800" cy="14478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E0D177-4AE5-48E5-AB3A-F5065433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0650" y="2114550"/>
            <a:ext cx="685800" cy="685800"/>
          </a:xfrm>
          <a:prstGeom prst="rect">
            <a:avLst/>
          </a:prstGeom>
        </p:spPr>
      </p:pic>
      <p:sp>
        <p:nvSpPr>
          <p:cNvPr id="6" name="Skills">
            <a:extLst>
              <a:ext uri="{FF2B5EF4-FFF2-40B4-BE49-F238E27FC236}">
                <a16:creationId xmlns:a16="http://schemas.microsoft.com/office/drawing/2014/main" id="{7B4E6379-4304-4B4C-9912-D4930234F002}"/>
              </a:ext>
            </a:extLst>
          </p:cNvPr>
          <p:cNvSpPr>
            <a:spLocks noGrp="1"/>
          </p:cNvSpPr>
          <p:nvPr/>
        </p:nvSpPr>
        <p:spPr>
          <a:xfrm>
            <a:off x="552450" y="3467100"/>
            <a:ext cx="2362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Skills</a:t>
            </a:r>
          </a:p>
        </p:txBody>
      </p:sp>
      <p:sp>
        <p:nvSpPr>
          <p:cNvPr id="7" name="업무 절차">
            <a:extLst>
              <a:ext uri="{FF2B5EF4-FFF2-40B4-BE49-F238E27FC236}">
                <a16:creationId xmlns:a16="http://schemas.microsoft.com/office/drawing/2014/main" id="{C86773E4-46A8-4ABF-AD3E-615C43E7AAB4}"/>
              </a:ext>
            </a:extLst>
          </p:cNvPr>
          <p:cNvSpPr>
            <a:spLocks noGrp="1"/>
          </p:cNvSpPr>
          <p:nvPr/>
        </p:nvSpPr>
        <p:spPr>
          <a:xfrm>
            <a:off x="704850" y="4143375"/>
            <a:ext cx="20574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업무 절차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366780D-265F-4D07-9F5D-707D3AD27457}"/>
              </a:ext>
            </a:extLst>
          </p:cNvPr>
          <p:cNvSpPr>
            <a:spLocks noGrp="1"/>
          </p:cNvSpPr>
          <p:nvPr/>
        </p:nvSpPr>
        <p:spPr>
          <a:xfrm>
            <a:off x="3829050" y="1733550"/>
            <a:ext cx="1447800" cy="1447800"/>
          </a:xfrm>
          <a:prstGeom prst="ellipse">
            <a:avLst/>
          </a:prstGeom>
          <a:solidFill>
            <a:srgbClr val="183E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8C89B9-7E6E-4083-9F89-092631919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10050" y="2114550"/>
            <a:ext cx="685800" cy="685800"/>
          </a:xfrm>
          <a:prstGeom prst="rect">
            <a:avLst/>
          </a:prstGeom>
        </p:spPr>
      </p:pic>
      <p:sp>
        <p:nvSpPr>
          <p:cNvPr id="10" name="MCP">
            <a:extLst>
              <a:ext uri="{FF2B5EF4-FFF2-40B4-BE49-F238E27FC236}">
                <a16:creationId xmlns:a16="http://schemas.microsoft.com/office/drawing/2014/main" id="{EE5A2C79-12D7-4450-AD61-2DFEA49BD04F}"/>
              </a:ext>
            </a:extLst>
          </p:cNvPr>
          <p:cNvSpPr>
            <a:spLocks noGrp="1"/>
          </p:cNvSpPr>
          <p:nvPr/>
        </p:nvSpPr>
        <p:spPr>
          <a:xfrm>
            <a:off x="3371850" y="3467100"/>
            <a:ext cx="2362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MCP</a:t>
            </a:r>
          </a:p>
        </p:txBody>
      </p:sp>
      <p:sp>
        <p:nvSpPr>
          <p:cNvPr id="11" name="조회 · 실행">
            <a:extLst>
              <a:ext uri="{FF2B5EF4-FFF2-40B4-BE49-F238E27FC236}">
                <a16:creationId xmlns:a16="http://schemas.microsoft.com/office/drawing/2014/main" id="{ECF63570-BCE1-4010-8AB3-9F119C258CBF}"/>
              </a:ext>
            </a:extLst>
          </p:cNvPr>
          <p:cNvSpPr>
            <a:spLocks noGrp="1"/>
          </p:cNvSpPr>
          <p:nvPr/>
        </p:nvSpPr>
        <p:spPr>
          <a:xfrm>
            <a:off x="3524250" y="4143375"/>
            <a:ext cx="20574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조회 · 실행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6BE6C67-61A9-479E-89CB-454F99628441}"/>
              </a:ext>
            </a:extLst>
          </p:cNvPr>
          <p:cNvSpPr>
            <a:spLocks noGrp="1"/>
          </p:cNvSpPr>
          <p:nvPr/>
        </p:nvSpPr>
        <p:spPr>
          <a:xfrm>
            <a:off x="6648450" y="1733550"/>
            <a:ext cx="1447800" cy="1447800"/>
          </a:xfrm>
          <a:prstGeom prst="ellipse">
            <a:avLst/>
          </a:prstGeom>
          <a:solidFill>
            <a:srgbClr val="DCE7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707DBCE-772F-4229-A79C-91D7D16F0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029450" y="2114550"/>
            <a:ext cx="685800" cy="685800"/>
          </a:xfrm>
          <a:prstGeom prst="rect">
            <a:avLst/>
          </a:prstGeom>
        </p:spPr>
      </p:pic>
      <p:sp>
        <p:nvSpPr>
          <p:cNvPr id="14" name="MCP Events">
            <a:extLst>
              <a:ext uri="{FF2B5EF4-FFF2-40B4-BE49-F238E27FC236}">
                <a16:creationId xmlns:a16="http://schemas.microsoft.com/office/drawing/2014/main" id="{9312D773-B000-4EBE-9F4C-627B13FC2817}"/>
              </a:ext>
            </a:extLst>
          </p:cNvPr>
          <p:cNvSpPr>
            <a:spLocks noGrp="1"/>
          </p:cNvSpPr>
          <p:nvPr/>
        </p:nvSpPr>
        <p:spPr>
          <a:xfrm>
            <a:off x="6191250" y="3467100"/>
            <a:ext cx="2362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MCP Events</a:t>
            </a:r>
          </a:p>
        </p:txBody>
      </p:sp>
      <p:sp>
        <p:nvSpPr>
          <p:cNvPr id="15" name="변경 알림">
            <a:extLst>
              <a:ext uri="{FF2B5EF4-FFF2-40B4-BE49-F238E27FC236}">
                <a16:creationId xmlns:a16="http://schemas.microsoft.com/office/drawing/2014/main" id="{D0D47C3B-3B22-4FDC-9EAE-837A29E8DBA3}"/>
              </a:ext>
            </a:extLst>
          </p:cNvPr>
          <p:cNvSpPr>
            <a:spLocks noGrp="1"/>
          </p:cNvSpPr>
          <p:nvPr/>
        </p:nvSpPr>
        <p:spPr>
          <a:xfrm>
            <a:off x="6343650" y="4143375"/>
            <a:ext cx="20574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ctr">
              <a:defRPr sz="1800">
                <a:solidFill>
                  <a:srgbClr val="567D89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567D89"/>
                </a:solidFill>
                <a:latin typeface="Pretendard"/>
                <a:ea typeface="Pretendard"/>
                <a:cs typeface="Pretendard"/>
              </a:rPr>
              <a:t>변경 알림</a:t>
            </a:r>
          </a:p>
        </p:txBody>
      </p:sp>
    </p:spTree>
    <p:extLst>
      <p:ext uri="{BB962C8B-B14F-4D97-AF65-F5344CB8AC3E}">
        <p14:creationId xmlns:p14="http://schemas.microsoft.com/office/powerpoint/2010/main" val="453220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ne More Thing">
            <a:extLst>
              <a:ext uri="{FF2B5EF4-FFF2-40B4-BE49-F238E27FC236}">
                <a16:creationId xmlns:a16="http://schemas.microsoft.com/office/drawing/2014/main" id="{1746F220-27C2-4FAE-B859-D7A433174A03}"/>
              </a:ext>
            </a:extLst>
          </p:cNvPr>
          <p:cNvSpPr>
            <a:spLocks noGrp="1"/>
          </p:cNvSpPr>
          <p:nvPr/>
        </p:nvSpPr>
        <p:spPr>
          <a:xfrm>
            <a:off x="504825" y="257175"/>
            <a:ext cx="6286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105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One More Thing</a:t>
            </a:r>
          </a:p>
        </p:txBody>
      </p:sp>
      <p:sp>
        <p:nvSpPr>
          <p:cNvPr id="2" name="ChatGPT로 명문가에 연결">
            <a:extLst>
              <a:ext uri="{FF2B5EF4-FFF2-40B4-BE49-F238E27FC236}">
                <a16:creationId xmlns:a16="http://schemas.microsoft.com/office/drawing/2014/main" id="{E94747CE-F96C-4499-BAD4-312B0FD2ECA8}"/>
              </a:ext>
            </a:extLst>
          </p:cNvPr>
          <p:cNvSpPr>
            <a:spLocks noGrp="1"/>
          </p:cNvSpPr>
          <p:nvPr/>
        </p:nvSpPr>
        <p:spPr>
          <a:xfrm>
            <a:off x="476250" y="628650"/>
            <a:ext cx="82486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ChatGPT로 명문가에 연결</a:t>
            </a:r>
          </a:p>
        </p:txBody>
      </p:sp>
      <p:sp>
        <p:nvSpPr>
          <p:cNvPr id="3" name="30">
            <a:extLst>
              <a:ext uri="{FF2B5EF4-FFF2-40B4-BE49-F238E27FC236}">
                <a16:creationId xmlns:a16="http://schemas.microsoft.com/office/drawing/2014/main" id="{FE45C8F7-99A1-46D4-BACB-ABD9EDC3A1B8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r">
              <a:def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87568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6020DF-94F4-4953-BC09-C3E225F8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33650" y="1394441"/>
            <a:ext cx="4086225" cy="333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27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F4FC87D-6193-4B6D-9406-33D09022B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2" name="우리 가문은">
            <a:extLst>
              <a:ext uri="{FF2B5EF4-FFF2-40B4-BE49-F238E27FC236}">
                <a16:creationId xmlns:a16="http://schemas.microsoft.com/office/drawing/2014/main" id="{068E9EF6-86B1-43C7-AB1C-A8522F7CA9D3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35909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025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우리 가문은</a:t>
            </a:r>
          </a:p>
        </p:txBody>
      </p:sp>
      <p:sp>
        <p:nvSpPr>
          <p:cNvPr id="3" name="명문가">
            <a:extLst>
              <a:ext uri="{FF2B5EF4-FFF2-40B4-BE49-F238E27FC236}">
                <a16:creationId xmlns:a16="http://schemas.microsoft.com/office/drawing/2014/main" id="{C79D25E9-E986-4D0B-9D9A-C4EE73002CEC}"/>
              </a:ext>
            </a:extLst>
          </p:cNvPr>
          <p:cNvSpPr>
            <a:spLocks noGrp="1"/>
          </p:cNvSpPr>
          <p:nvPr/>
        </p:nvSpPr>
        <p:spPr>
          <a:xfrm>
            <a:off x="514350" y="1724025"/>
            <a:ext cx="4210050" cy="1200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8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68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pPr>
            <a:r>
              <a:rPr sz="68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rPr>
              <a:t>명문가</a:t>
            </a:r>
          </a:p>
        </p:txBody>
      </p:sp>
      <p:sp>
        <p:nvSpPr>
          <p:cNvPr id="4" name="종중 운영의 모든것">
            <a:extLst>
              <a:ext uri="{FF2B5EF4-FFF2-40B4-BE49-F238E27FC236}">
                <a16:creationId xmlns:a16="http://schemas.microsoft.com/office/drawing/2014/main" id="{4F22C6E3-1EC2-411E-8B2A-A3D635E3A962}"/>
              </a:ext>
            </a:extLst>
          </p:cNvPr>
          <p:cNvSpPr>
            <a:spLocks noGrp="1"/>
          </p:cNvSpPr>
          <p:nvPr/>
        </p:nvSpPr>
        <p:spPr>
          <a:xfrm>
            <a:off x="561975" y="3162300"/>
            <a:ext cx="40386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defRPr sz="2025">
                <a:solidFill>
                  <a:srgbClr val="183E35"/>
                </a:solidFill>
                <a:latin typeface="Pretendard"/>
                <a:ea typeface="Pretendard"/>
                <a:cs typeface="Pretendard"/>
              </a:defRPr>
            </a:pPr>
            <a:r>
              <a:rPr sz="2025">
                <a:solidFill>
                  <a:srgbClr val="183E35"/>
                </a:solidFill>
                <a:latin typeface="Pretendard"/>
                <a:ea typeface="Pretendard"/>
                <a:cs typeface="Pretendard"/>
              </a:rPr>
              <a:t>종중 운영의 모든것</a:t>
            </a:r>
          </a:p>
        </p:txBody>
      </p:sp>
    </p:spTree>
    <p:extLst>
      <p:ext uri="{BB962C8B-B14F-4D97-AF65-F5344CB8AC3E}">
        <p14:creationId xmlns:p14="http://schemas.microsoft.com/office/powerpoint/2010/main" val="18646721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1093</Words>
  <Application>Microsoft Office PowerPoint</Application>
  <DocSecurity>0</DocSecurity>
  <PresentationFormat>화면 슬라이드 쇼(16:9)</PresentationFormat>
  <Paragraphs>330</Paragraphs>
  <Slides>34</Slides>
  <Notes>34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Noto Serif KR</vt:lpstr>
      <vt:lpstr>Pretendard</vt:lpstr>
      <vt:lpstr>SUIT</vt:lpstr>
      <vt:lpstr>SUIT SemiBold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WonJun Lee</cp:lastModifiedBy>
  <cp:revision>8</cp:revision>
  <dcterms:created xsi:type="dcterms:W3CDTF">2026-10-09T06:11:15Z</dcterms:created>
  <dcterms:modified xsi:type="dcterms:W3CDTF">2026-10-09T06:46:14Z</dcterms:modified>
</cp:coreProperties>
</file>